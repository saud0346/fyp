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17"/>
  </p:notesMasterIdLst>
  <p:sldIdLst>
    <p:sldId id="256" r:id="rId3"/>
    <p:sldId id="259" r:id="rId4"/>
    <p:sldId id="308" r:id="rId5"/>
    <p:sldId id="309" r:id="rId6"/>
    <p:sldId id="260" r:id="rId7"/>
    <p:sldId id="263" r:id="rId8"/>
    <p:sldId id="297" r:id="rId9"/>
    <p:sldId id="301" r:id="rId10"/>
    <p:sldId id="302" r:id="rId11"/>
    <p:sldId id="303" r:id="rId12"/>
    <p:sldId id="304" r:id="rId13"/>
    <p:sldId id="310" r:id="rId14"/>
    <p:sldId id="295" r:id="rId15"/>
    <p:sldId id="300" r:id="rId16"/>
  </p:sldIdLst>
  <p:sldSz cx="9144000" cy="5143500" type="screen16x9"/>
  <p:notesSz cx="6858000" cy="9144000"/>
  <p:embeddedFontLst>
    <p:embeddedFont>
      <p:font typeface="Inter Tight" panose="020B0604020202020204" charset="0"/>
      <p:regular r:id="rId18"/>
      <p:bold r:id="rId19"/>
      <p:italic r:id="rId20"/>
      <p:boldItalic r:id="rId21"/>
    </p:embeddedFont>
    <p:embeddedFont>
      <p:font typeface="Merriweather Sans" pitchFamily="2" charset="0"/>
      <p:regular r:id="rId22"/>
      <p:bold r:id="rId23"/>
      <p:italic r:id="rId24"/>
      <p:boldItalic r:id="rId25"/>
    </p:embeddedFont>
    <p:embeddedFont>
      <p:font typeface="Open Sans" panose="020B0606030504020204" pitchFamily="34" charset="0"/>
      <p:regular r:id="rId26"/>
      <p:bold r:id="rId27"/>
      <p:italic r:id="rId28"/>
      <p:boldItalic r:id="rId29"/>
    </p:embeddedFont>
    <p:embeddedFont>
      <p:font typeface="Proxima Nova" panose="020B0604020202020204" charset="0"/>
      <p:regular r:id="rId30"/>
      <p:bold r:id="rId31"/>
      <p:italic r:id="rId32"/>
      <p:boldItalic r:id="rId33"/>
    </p:embeddedFont>
    <p:embeddedFont>
      <p:font typeface="Raleway"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ABD91F-86C4-4EDB-9EB6-E28549BB48EA}">
  <a:tblStyle styleId="{C5ABD91F-86C4-4EDB-9EB6-E28549BB48E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0"/>
  </p:normalViewPr>
  <p:slideViewPr>
    <p:cSldViewPr snapToGrid="0">
      <p:cViewPr varScale="1">
        <p:scale>
          <a:sx n="126" d="100"/>
          <a:sy n="126" d="100"/>
        </p:scale>
        <p:origin x="390" y="12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viewProps" Target="viewProps.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ef81d1916d_0_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ef81d1916d_0_5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ef81d1916d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1ef81d1916d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ef81d1916d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1ef81d1916d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854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ef81d1916d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1ef81d1916d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029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ef81d1916d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ef81d1916d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ef81d1916d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ef81d1916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ef81d1916d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ef81d1916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039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ef81d1916d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ef81d1916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0256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ef81d1916d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ef81d1916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3966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ef81d1916d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ef81d1916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9957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ef81d1916d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ef81d1916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4553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5"/>
        <p:cNvGrpSpPr/>
        <p:nvPr/>
      </p:nvGrpSpPr>
      <p:grpSpPr>
        <a:xfrm>
          <a:off x="0" y="0"/>
          <a:ext cx="0" cy="0"/>
          <a:chOff x="0" y="0"/>
          <a:chExt cx="0" cy="0"/>
        </a:xfrm>
      </p:grpSpPr>
      <p:sp>
        <p:nvSpPr>
          <p:cNvPr id="12626" name="Google Shape;12626;g1ef8e4f2db5_0_278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7" name="Google Shape;12627;g1ef8e4f2db5_0_278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5"/>
        <p:cNvGrpSpPr/>
        <p:nvPr/>
      </p:nvGrpSpPr>
      <p:grpSpPr>
        <a:xfrm>
          <a:off x="0" y="0"/>
          <a:ext cx="0" cy="0"/>
          <a:chOff x="0" y="0"/>
          <a:chExt cx="0" cy="0"/>
        </a:xfrm>
      </p:grpSpPr>
      <p:sp>
        <p:nvSpPr>
          <p:cNvPr id="12626" name="Google Shape;12626;g1ef8e4f2db5_0_278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7" name="Google Shape;12627;g1ef8e4f2db5_0_278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0305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31400" y="1244550"/>
            <a:ext cx="3533400" cy="2053200"/>
          </a:xfrm>
          <a:prstGeom prst="rect">
            <a:avLst/>
          </a:prstGeom>
        </p:spPr>
        <p:txBody>
          <a:bodyPr spcFirstLastPara="1" wrap="square" lIns="91425" tIns="91425" rIns="91425" bIns="91425" anchor="ctr" anchorCtr="0">
            <a:noAutofit/>
          </a:bodyPr>
          <a:lstStyle>
            <a:lvl1pPr lvl="0" rtl="0">
              <a:spcBef>
                <a:spcPts val="0"/>
              </a:spcBef>
              <a:spcAft>
                <a:spcPts val="0"/>
              </a:spcAft>
              <a:buSzPts val="8500"/>
              <a:buNone/>
              <a:defRPr sz="32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10" name="Google Shape;10;p2"/>
          <p:cNvSpPr txBox="1">
            <a:spLocks noGrp="1"/>
          </p:cNvSpPr>
          <p:nvPr>
            <p:ph type="subTitle" idx="1"/>
          </p:nvPr>
        </p:nvSpPr>
        <p:spPr>
          <a:xfrm>
            <a:off x="731400" y="3297750"/>
            <a:ext cx="1987500" cy="6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1" name="Google Shape;11;p2"/>
          <p:cNvSpPr/>
          <p:nvPr/>
        </p:nvSpPr>
        <p:spPr>
          <a:xfrm>
            <a:off x="8322275" y="-75745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12" name="Google Shape;12;p2"/>
          <p:cNvCxnSpPr/>
          <p:nvPr/>
        </p:nvCxnSpPr>
        <p:spPr>
          <a:xfrm>
            <a:off x="731400" y="4731275"/>
            <a:ext cx="8534100" cy="0"/>
          </a:xfrm>
          <a:prstGeom prst="straightConnector1">
            <a:avLst/>
          </a:prstGeom>
          <a:noFill/>
          <a:ln w="9525" cap="flat" cmpd="sng">
            <a:solidFill>
              <a:schemeClr val="dk1"/>
            </a:solidFill>
            <a:prstDash val="solid"/>
            <a:round/>
            <a:headEnd type="oval" w="med" len="med"/>
            <a:tailEnd type="none" w="med" len="med"/>
          </a:ln>
        </p:spPr>
      </p:cxnSp>
      <p:cxnSp>
        <p:nvCxnSpPr>
          <p:cNvPr id="13" name="Google Shape;13;p2"/>
          <p:cNvCxnSpPr/>
          <p:nvPr/>
        </p:nvCxnSpPr>
        <p:spPr>
          <a:xfrm>
            <a:off x="0"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572000" y="2093147"/>
            <a:ext cx="3434400" cy="13920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572000" y="1291575"/>
            <a:ext cx="1223100" cy="8778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0000"/>
              <a:buNone/>
              <a:defRPr sz="6000">
                <a:solidFill>
                  <a:schemeClr val="lt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17" name="Google Shape;17;p3"/>
          <p:cNvSpPr txBox="1">
            <a:spLocks noGrp="1"/>
          </p:cNvSpPr>
          <p:nvPr>
            <p:ph type="subTitle" idx="1"/>
          </p:nvPr>
        </p:nvSpPr>
        <p:spPr>
          <a:xfrm>
            <a:off x="4572000" y="3447825"/>
            <a:ext cx="3434400" cy="40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18" name="Google Shape;18;p3"/>
          <p:cNvSpPr>
            <a:spLocks noGrp="1"/>
          </p:cNvSpPr>
          <p:nvPr>
            <p:ph type="pic" idx="3"/>
          </p:nvPr>
        </p:nvSpPr>
        <p:spPr>
          <a:xfrm>
            <a:off x="979750" y="787350"/>
            <a:ext cx="2937600" cy="3943800"/>
          </a:xfrm>
          <a:prstGeom prst="rect">
            <a:avLst/>
          </a:prstGeom>
          <a:noFill/>
          <a:ln>
            <a:noFill/>
          </a:ln>
        </p:spPr>
      </p:sp>
      <p:sp>
        <p:nvSpPr>
          <p:cNvPr id="19" name="Google Shape;19;p3"/>
          <p:cNvSpPr/>
          <p:nvPr/>
        </p:nvSpPr>
        <p:spPr>
          <a:xfrm flipH="1">
            <a:off x="8424000" y="78735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20" name="Google Shape;20;p3"/>
          <p:cNvCxnSpPr/>
          <p:nvPr/>
        </p:nvCxnSpPr>
        <p:spPr>
          <a:xfrm rot="10800000">
            <a:off x="0" y="4731275"/>
            <a:ext cx="8298000" cy="0"/>
          </a:xfrm>
          <a:prstGeom prst="straightConnector1">
            <a:avLst/>
          </a:prstGeom>
          <a:noFill/>
          <a:ln w="9525" cap="flat" cmpd="sng">
            <a:solidFill>
              <a:schemeClr val="dk1"/>
            </a:solidFill>
            <a:prstDash val="solid"/>
            <a:round/>
            <a:headEnd type="oval" w="med" len="med"/>
            <a:tailEnd type="none" w="med" len="med"/>
          </a:ln>
        </p:spPr>
      </p:cxnSp>
      <p:cxnSp>
        <p:nvCxnSpPr>
          <p:cNvPr id="21" name="Google Shape;21;p3"/>
          <p:cNvCxnSpPr/>
          <p:nvPr/>
        </p:nvCxnSpPr>
        <p:spPr>
          <a:xfrm rot="10800000">
            <a:off x="5949875"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4657800" y="1529325"/>
            <a:ext cx="3766200" cy="20847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0" name="Google Shape;50;p8"/>
          <p:cNvSpPr/>
          <p:nvPr/>
        </p:nvSpPr>
        <p:spPr>
          <a:xfrm>
            <a:off x="6151450" y="-102325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51" name="Google Shape;51;p8"/>
          <p:cNvCxnSpPr/>
          <p:nvPr/>
        </p:nvCxnSpPr>
        <p:spPr>
          <a:xfrm>
            <a:off x="731400" y="4731275"/>
            <a:ext cx="8562600" cy="0"/>
          </a:xfrm>
          <a:prstGeom prst="straightConnector1">
            <a:avLst/>
          </a:prstGeom>
          <a:noFill/>
          <a:ln w="9525" cap="flat" cmpd="sng">
            <a:solidFill>
              <a:schemeClr val="dk1"/>
            </a:solidFill>
            <a:prstDash val="solid"/>
            <a:round/>
            <a:headEnd type="oval" w="med" len="med"/>
            <a:tailEnd type="none" w="med" len="med"/>
          </a:ln>
        </p:spPr>
      </p:cxnSp>
      <p:cxnSp>
        <p:nvCxnSpPr>
          <p:cNvPr id="52" name="Google Shape;52;p8"/>
          <p:cNvCxnSpPr/>
          <p:nvPr/>
        </p:nvCxnSpPr>
        <p:spPr>
          <a:xfrm>
            <a:off x="0"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sp>
        <p:nvSpPr>
          <p:cNvPr id="54" name="Google Shape;54;p9"/>
          <p:cNvSpPr txBox="1">
            <a:spLocks noGrp="1"/>
          </p:cNvSpPr>
          <p:nvPr>
            <p:ph type="body" idx="1"/>
          </p:nvPr>
        </p:nvSpPr>
        <p:spPr>
          <a:xfrm>
            <a:off x="720000" y="1570575"/>
            <a:ext cx="4047000" cy="2186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Font typeface="Open Sans"/>
              <a:buChar char="-"/>
              <a:defRPr/>
            </a:lvl1pPr>
            <a:lvl2pPr marL="914400" lvl="1" indent="-279400" rtl="0">
              <a:spcBef>
                <a:spcPts val="0"/>
              </a:spcBef>
              <a:spcAft>
                <a:spcPts val="0"/>
              </a:spcAft>
              <a:buSzPts val="800"/>
              <a:buFont typeface="Open Sans"/>
              <a:buChar char="○"/>
              <a:defRPr/>
            </a:lvl2pPr>
            <a:lvl3pPr marL="1371600" lvl="2" indent="-279400" rtl="0">
              <a:spcBef>
                <a:spcPts val="0"/>
              </a:spcBef>
              <a:spcAft>
                <a:spcPts val="0"/>
              </a:spcAft>
              <a:buSzPts val="800"/>
              <a:buFont typeface="Open Sans"/>
              <a:buChar char="■"/>
              <a:defRPr/>
            </a:lvl3pPr>
            <a:lvl4pPr marL="1828800" lvl="3" indent="-279400" rtl="0">
              <a:spcBef>
                <a:spcPts val="0"/>
              </a:spcBef>
              <a:spcAft>
                <a:spcPts val="0"/>
              </a:spcAft>
              <a:buSzPts val="800"/>
              <a:buFont typeface="Open Sans"/>
              <a:buChar char="●"/>
              <a:defRPr/>
            </a:lvl4pPr>
            <a:lvl5pPr marL="2286000" lvl="4" indent="-304800" rtl="0">
              <a:spcBef>
                <a:spcPts val="0"/>
              </a:spcBef>
              <a:spcAft>
                <a:spcPts val="0"/>
              </a:spcAft>
              <a:buSzPts val="1200"/>
              <a:buFont typeface="Open Sans"/>
              <a:buChar char="○"/>
              <a:defRPr/>
            </a:lvl5pPr>
            <a:lvl6pPr marL="2743200" lvl="5" indent="-304800" rtl="0">
              <a:spcBef>
                <a:spcPts val="0"/>
              </a:spcBef>
              <a:spcAft>
                <a:spcPts val="0"/>
              </a:spcAft>
              <a:buSzPts val="1200"/>
              <a:buFont typeface="Open Sans"/>
              <a:buChar char="■"/>
              <a:defRPr/>
            </a:lvl6pPr>
            <a:lvl7pPr marL="3200400" lvl="6" indent="-273050" rtl="0">
              <a:spcBef>
                <a:spcPts val="0"/>
              </a:spcBef>
              <a:spcAft>
                <a:spcPts val="0"/>
              </a:spcAft>
              <a:buSzPts val="700"/>
              <a:buFont typeface="Open Sans"/>
              <a:buChar char="●"/>
              <a:defRPr/>
            </a:lvl7pPr>
            <a:lvl8pPr marL="3657600" lvl="7" indent="-273050" rtl="0">
              <a:spcBef>
                <a:spcPts val="0"/>
              </a:spcBef>
              <a:spcAft>
                <a:spcPts val="0"/>
              </a:spcAft>
              <a:buSzPts val="700"/>
              <a:buFont typeface="Open Sans"/>
              <a:buChar char="○"/>
              <a:defRPr/>
            </a:lvl8pPr>
            <a:lvl9pPr marL="4114800" lvl="8" indent="-266700" rtl="0">
              <a:spcBef>
                <a:spcPts val="0"/>
              </a:spcBef>
              <a:spcAft>
                <a:spcPts val="0"/>
              </a:spcAft>
              <a:buSzPts val="600"/>
              <a:buFont typeface="Open Sans"/>
              <a:buChar char="■"/>
              <a:defRPr/>
            </a:lvl9pPr>
          </a:lstStyle>
          <a:p>
            <a:endParaRPr/>
          </a:p>
        </p:txBody>
      </p:sp>
      <p:sp>
        <p:nvSpPr>
          <p:cNvPr id="55" name="Google Shape;55;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6" name="Google Shape;56;p9"/>
          <p:cNvSpPr/>
          <p:nvPr/>
        </p:nvSpPr>
        <p:spPr>
          <a:xfrm flipH="1">
            <a:off x="8188300" y="424190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57" name="Google Shape;57;p9"/>
          <p:cNvCxnSpPr/>
          <p:nvPr/>
        </p:nvCxnSpPr>
        <p:spPr>
          <a:xfrm rot="10800000">
            <a:off x="-25" y="4891375"/>
            <a:ext cx="6929700" cy="0"/>
          </a:xfrm>
          <a:prstGeom prst="straightConnector1">
            <a:avLst/>
          </a:prstGeom>
          <a:noFill/>
          <a:ln w="9525" cap="flat" cmpd="sng">
            <a:solidFill>
              <a:schemeClr val="dk1"/>
            </a:solidFill>
            <a:prstDash val="solid"/>
            <a:round/>
            <a:headEnd type="oval" w="med" len="med"/>
            <a:tailEnd type="none" w="med" len="med"/>
          </a:ln>
        </p:spPr>
      </p:cxnSp>
      <p:cxnSp>
        <p:nvCxnSpPr>
          <p:cNvPr id="58" name="Google Shape;58;p9"/>
          <p:cNvCxnSpPr/>
          <p:nvPr/>
        </p:nvCxnSpPr>
        <p:spPr>
          <a:xfrm rot="10800000">
            <a:off x="5949875"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9"/>
        <p:cNvGrpSpPr/>
        <p:nvPr/>
      </p:nvGrpSpPr>
      <p:grpSpPr>
        <a:xfrm>
          <a:off x="0" y="0"/>
          <a:ext cx="0" cy="0"/>
          <a:chOff x="0" y="0"/>
          <a:chExt cx="0" cy="0"/>
        </a:xfrm>
      </p:grpSpPr>
      <p:sp>
        <p:nvSpPr>
          <p:cNvPr id="60" name="Google Shape;60;p10"/>
          <p:cNvSpPr>
            <a:spLocks noGrp="1"/>
          </p:cNvSpPr>
          <p:nvPr>
            <p:ph type="pic" idx="2"/>
          </p:nvPr>
        </p:nvSpPr>
        <p:spPr>
          <a:xfrm>
            <a:off x="0" y="0"/>
            <a:ext cx="9144000" cy="5143500"/>
          </a:xfrm>
          <a:prstGeom prst="rect">
            <a:avLst/>
          </a:prstGeom>
          <a:noFill/>
          <a:ln>
            <a:noFill/>
          </a:ln>
        </p:spPr>
      </p:sp>
      <p:sp>
        <p:nvSpPr>
          <p:cNvPr id="61" name="Google Shape;61;p10"/>
          <p:cNvSpPr txBox="1">
            <a:spLocks noGrp="1"/>
          </p:cNvSpPr>
          <p:nvPr>
            <p:ph type="body" idx="1"/>
          </p:nvPr>
        </p:nvSpPr>
        <p:spPr>
          <a:xfrm>
            <a:off x="720000" y="2269200"/>
            <a:ext cx="7704000" cy="6051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ctr" rtl="0">
              <a:lnSpc>
                <a:spcPct val="100000"/>
              </a:lnSpc>
              <a:spcBef>
                <a:spcPts val="0"/>
              </a:spcBef>
              <a:spcAft>
                <a:spcPts val="0"/>
              </a:spcAft>
              <a:buSzPts val="1200"/>
              <a:buFont typeface="Raleway"/>
              <a:buNone/>
              <a:defRPr sz="4000" b="1">
                <a:solidFill>
                  <a:schemeClr val="dk1"/>
                </a:solidFill>
                <a:latin typeface="Raleway"/>
                <a:ea typeface="Raleway"/>
                <a:cs typeface="Raleway"/>
                <a:sym typeface="Raleway"/>
              </a:defRPr>
            </a:lvl1pPr>
          </a:lstStyle>
          <a:p>
            <a:endParaRPr/>
          </a:p>
        </p:txBody>
      </p:sp>
      <p:sp>
        <p:nvSpPr>
          <p:cNvPr id="62" name="Google Shape;62;p10"/>
          <p:cNvSpPr/>
          <p:nvPr/>
        </p:nvSpPr>
        <p:spPr>
          <a:xfrm>
            <a:off x="8322275" y="-75745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63" name="Google Shape;63;p10"/>
          <p:cNvCxnSpPr/>
          <p:nvPr/>
        </p:nvCxnSpPr>
        <p:spPr>
          <a:xfrm>
            <a:off x="731400" y="4731275"/>
            <a:ext cx="8534100" cy="0"/>
          </a:xfrm>
          <a:prstGeom prst="straightConnector1">
            <a:avLst/>
          </a:prstGeom>
          <a:noFill/>
          <a:ln w="9525" cap="flat" cmpd="sng">
            <a:solidFill>
              <a:schemeClr val="dk1"/>
            </a:solidFill>
            <a:prstDash val="solid"/>
            <a:round/>
            <a:headEnd type="oval" w="med" len="med"/>
            <a:tailEnd type="none" w="med" len="med"/>
          </a:ln>
        </p:spPr>
      </p:cxnSp>
      <p:cxnSp>
        <p:nvCxnSpPr>
          <p:cNvPr id="64" name="Google Shape;64;p10"/>
          <p:cNvCxnSpPr/>
          <p:nvPr/>
        </p:nvCxnSpPr>
        <p:spPr>
          <a:xfrm>
            <a:off x="0"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7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5818974" y="2313825"/>
            <a:ext cx="2071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16" name="Google Shape;116;p19"/>
          <p:cNvSpPr txBox="1">
            <a:spLocks noGrp="1"/>
          </p:cNvSpPr>
          <p:nvPr>
            <p:ph type="title" idx="2"/>
          </p:nvPr>
        </p:nvSpPr>
        <p:spPr>
          <a:xfrm>
            <a:off x="3536298" y="2313825"/>
            <a:ext cx="2071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17" name="Google Shape;117;p19"/>
          <p:cNvSpPr txBox="1">
            <a:spLocks noGrp="1"/>
          </p:cNvSpPr>
          <p:nvPr>
            <p:ph type="subTitle" idx="1"/>
          </p:nvPr>
        </p:nvSpPr>
        <p:spPr>
          <a:xfrm>
            <a:off x="1253625" y="2707425"/>
            <a:ext cx="2071200" cy="762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118" name="Google Shape;118;p19"/>
          <p:cNvSpPr txBox="1">
            <a:spLocks noGrp="1"/>
          </p:cNvSpPr>
          <p:nvPr>
            <p:ph type="subTitle" idx="3"/>
          </p:nvPr>
        </p:nvSpPr>
        <p:spPr>
          <a:xfrm>
            <a:off x="3536292" y="2707425"/>
            <a:ext cx="2071200" cy="762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119" name="Google Shape;119;p19"/>
          <p:cNvSpPr txBox="1">
            <a:spLocks noGrp="1"/>
          </p:cNvSpPr>
          <p:nvPr>
            <p:ph type="title" idx="4"/>
          </p:nvPr>
        </p:nvSpPr>
        <p:spPr>
          <a:xfrm>
            <a:off x="1253626" y="2313825"/>
            <a:ext cx="2071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20" name="Google Shape;120;p19"/>
          <p:cNvSpPr txBox="1">
            <a:spLocks noGrp="1"/>
          </p:cNvSpPr>
          <p:nvPr>
            <p:ph type="subTitle" idx="5"/>
          </p:nvPr>
        </p:nvSpPr>
        <p:spPr>
          <a:xfrm>
            <a:off x="5818975" y="2707425"/>
            <a:ext cx="2071200" cy="762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121" name="Google Shape;121;p19"/>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2" name="Google Shape;122;p19"/>
          <p:cNvSpPr/>
          <p:nvPr/>
        </p:nvSpPr>
        <p:spPr>
          <a:xfrm flipH="1">
            <a:off x="8138250" y="-597425"/>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123" name="Google Shape;123;p19"/>
          <p:cNvCxnSpPr/>
          <p:nvPr/>
        </p:nvCxnSpPr>
        <p:spPr>
          <a:xfrm>
            <a:off x="1633775" y="4731275"/>
            <a:ext cx="8298000" cy="0"/>
          </a:xfrm>
          <a:prstGeom prst="straightConnector1">
            <a:avLst/>
          </a:prstGeom>
          <a:noFill/>
          <a:ln w="9525" cap="flat" cmpd="sng">
            <a:solidFill>
              <a:schemeClr val="dk1"/>
            </a:solidFill>
            <a:prstDash val="solid"/>
            <a:round/>
            <a:headEnd type="oval" w="med" len="med"/>
            <a:tailEnd type="none" w="med" len="med"/>
          </a:ln>
        </p:spPr>
      </p:cxnSp>
      <p:cxnSp>
        <p:nvCxnSpPr>
          <p:cNvPr id="124" name="Google Shape;124;p19"/>
          <p:cNvCxnSpPr/>
          <p:nvPr/>
        </p:nvCxnSpPr>
        <p:spPr>
          <a:xfrm>
            <a:off x="0"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155"/>
        <p:cNvGrpSpPr/>
        <p:nvPr/>
      </p:nvGrpSpPr>
      <p:grpSpPr>
        <a:xfrm>
          <a:off x="0" y="0"/>
          <a:ext cx="0" cy="0"/>
          <a:chOff x="0" y="0"/>
          <a:chExt cx="0" cy="0"/>
        </a:xfrm>
      </p:grpSpPr>
      <p:sp>
        <p:nvSpPr>
          <p:cNvPr id="156" name="Google Shape;156;p23"/>
          <p:cNvSpPr/>
          <p:nvPr/>
        </p:nvSpPr>
        <p:spPr>
          <a:xfrm flipH="1">
            <a:off x="8188300" y="424190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157" name="Google Shape;157;p23"/>
          <p:cNvCxnSpPr/>
          <p:nvPr/>
        </p:nvCxnSpPr>
        <p:spPr>
          <a:xfrm rot="10800000">
            <a:off x="-25" y="4891375"/>
            <a:ext cx="6929700" cy="0"/>
          </a:xfrm>
          <a:prstGeom prst="straightConnector1">
            <a:avLst/>
          </a:prstGeom>
          <a:noFill/>
          <a:ln w="9525" cap="flat" cmpd="sng">
            <a:solidFill>
              <a:schemeClr val="dk1"/>
            </a:solidFill>
            <a:prstDash val="solid"/>
            <a:round/>
            <a:headEnd type="oval" w="med" len="med"/>
            <a:tailEnd type="none" w="med" len="med"/>
          </a:ln>
        </p:spPr>
      </p:cxnSp>
      <p:cxnSp>
        <p:nvCxnSpPr>
          <p:cNvPr id="158" name="Google Shape;158;p23"/>
          <p:cNvCxnSpPr/>
          <p:nvPr/>
        </p:nvCxnSpPr>
        <p:spPr>
          <a:xfrm rot="10800000">
            <a:off x="5949875"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159"/>
        <p:cNvGrpSpPr/>
        <p:nvPr/>
      </p:nvGrpSpPr>
      <p:grpSpPr>
        <a:xfrm>
          <a:off x="0" y="0"/>
          <a:ext cx="0" cy="0"/>
          <a:chOff x="0" y="0"/>
          <a:chExt cx="0" cy="0"/>
        </a:xfrm>
      </p:grpSpPr>
      <p:sp>
        <p:nvSpPr>
          <p:cNvPr id="160" name="Google Shape;160;p24"/>
          <p:cNvSpPr/>
          <p:nvPr/>
        </p:nvSpPr>
        <p:spPr>
          <a:xfrm>
            <a:off x="8322275" y="-75745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161" name="Google Shape;161;p24"/>
          <p:cNvCxnSpPr/>
          <p:nvPr/>
        </p:nvCxnSpPr>
        <p:spPr>
          <a:xfrm>
            <a:off x="731400" y="4731275"/>
            <a:ext cx="8534100" cy="0"/>
          </a:xfrm>
          <a:prstGeom prst="straightConnector1">
            <a:avLst/>
          </a:prstGeom>
          <a:noFill/>
          <a:ln w="9525" cap="flat" cmpd="sng">
            <a:solidFill>
              <a:schemeClr val="dk1"/>
            </a:solidFill>
            <a:prstDash val="solid"/>
            <a:round/>
            <a:headEnd type="oval" w="med" len="med"/>
            <a:tailEnd type="none" w="med" len="med"/>
          </a:ln>
        </p:spPr>
      </p:cxnSp>
      <p:cxnSp>
        <p:nvCxnSpPr>
          <p:cNvPr id="162" name="Google Shape;162;p24"/>
          <p:cNvCxnSpPr/>
          <p:nvPr/>
        </p:nvCxnSpPr>
        <p:spPr>
          <a:xfrm>
            <a:off x="0" y="207313"/>
            <a:ext cx="39819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960125" y="1379138"/>
            <a:ext cx="4494900" cy="1322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4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4" name="Google Shape;44;p7"/>
          <p:cNvSpPr txBox="1">
            <a:spLocks noGrp="1"/>
          </p:cNvSpPr>
          <p:nvPr>
            <p:ph type="subTitle" idx="1"/>
          </p:nvPr>
        </p:nvSpPr>
        <p:spPr>
          <a:xfrm>
            <a:off x="960125" y="2701763"/>
            <a:ext cx="4494900" cy="106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45" name="Google Shape;45;p7"/>
          <p:cNvSpPr/>
          <p:nvPr/>
        </p:nvSpPr>
        <p:spPr>
          <a:xfrm>
            <a:off x="6151450" y="-1023250"/>
            <a:ext cx="1609500" cy="1609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erriweather Sans"/>
              <a:ea typeface="Merriweather Sans"/>
              <a:cs typeface="Merriweather Sans"/>
              <a:sym typeface="Merriweather Sans"/>
            </a:endParaRPr>
          </a:p>
        </p:txBody>
      </p:sp>
      <p:cxnSp>
        <p:nvCxnSpPr>
          <p:cNvPr id="46" name="Google Shape;46;p7"/>
          <p:cNvCxnSpPr/>
          <p:nvPr/>
        </p:nvCxnSpPr>
        <p:spPr>
          <a:xfrm>
            <a:off x="731400" y="4731275"/>
            <a:ext cx="8477100" cy="0"/>
          </a:xfrm>
          <a:prstGeom prst="straightConnector1">
            <a:avLst/>
          </a:prstGeom>
          <a:noFill/>
          <a:ln w="9525" cap="flat" cmpd="sng">
            <a:solidFill>
              <a:schemeClr val="dk1"/>
            </a:solidFill>
            <a:prstDash val="solid"/>
            <a:round/>
            <a:headEnd type="oval" w="med" len="med"/>
            <a:tailEnd type="none" w="med" len="med"/>
          </a:ln>
        </p:spPr>
      </p:cxnSp>
      <p:cxnSp>
        <p:nvCxnSpPr>
          <p:cNvPr id="47" name="Google Shape;47;p7"/>
          <p:cNvCxnSpPr/>
          <p:nvPr/>
        </p:nvCxnSpPr>
        <p:spPr>
          <a:xfrm>
            <a:off x="0" y="207313"/>
            <a:ext cx="3981900" cy="0"/>
          </a:xfrm>
          <a:prstGeom prst="straightConnector1">
            <a:avLst/>
          </a:prstGeom>
          <a:noFill/>
          <a:ln w="9525" cap="flat" cmpd="sng">
            <a:solidFill>
              <a:schemeClr val="dk1"/>
            </a:solidFill>
            <a:prstDash val="solid"/>
            <a:round/>
            <a:headEnd type="none" w="med" len="med"/>
            <a:tailEnd type="oval" w="med" len="med"/>
          </a:ln>
        </p:spPr>
      </p:cxnSp>
    </p:spTree>
    <p:extLst>
      <p:ext uri="{BB962C8B-B14F-4D97-AF65-F5344CB8AC3E}">
        <p14:creationId xmlns:p14="http://schemas.microsoft.com/office/powerpoint/2010/main" val="2840194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1pPr>
            <a:lvl2pPr lvl="1"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2pPr>
            <a:lvl3pPr lvl="2"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3pPr>
            <a:lvl4pPr lvl="3"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4pPr>
            <a:lvl5pPr lvl="4"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5pPr>
            <a:lvl6pPr lvl="5"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6pPr>
            <a:lvl7pPr lvl="6"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7pPr>
            <a:lvl8pPr lvl="7"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8pPr>
            <a:lvl9pPr lvl="8"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1pPr>
            <a:lvl2pPr marL="914400" lvl="1"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2pPr>
            <a:lvl3pPr marL="1371600" lvl="2"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3pPr>
            <a:lvl4pPr marL="1828800" lvl="3"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4pPr>
            <a:lvl5pPr marL="2286000" lvl="4"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5pPr>
            <a:lvl6pPr marL="2743200" lvl="5"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6pPr>
            <a:lvl7pPr marL="3200400" lvl="6"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7pPr>
            <a:lvl8pPr marL="3657600" lvl="7"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8pPr>
            <a:lvl9pPr marL="4114800" lvl="8" indent="-304800" rtl="0">
              <a:lnSpc>
                <a:spcPct val="115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5" r:id="rId4"/>
    <p:sldLayoutId id="2147483656" r:id="rId5"/>
    <p:sldLayoutId id="2147483658" r:id="rId6"/>
    <p:sldLayoutId id="2147483665" r:id="rId7"/>
    <p:sldLayoutId id="2147483669" r:id="rId8"/>
    <p:sldLayoutId id="2147483670" r:id="rId9"/>
    <p:sldLayoutId id="214748367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65" name="Google Shape;165;p25"/>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ctrTitle"/>
          </p:nvPr>
        </p:nvSpPr>
        <p:spPr>
          <a:xfrm>
            <a:off x="730633" y="1366971"/>
            <a:ext cx="3533400" cy="67671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t>AGRO-BOT</a:t>
            </a:r>
            <a:endParaRPr sz="4800" dirty="0"/>
          </a:p>
        </p:txBody>
      </p:sp>
      <p:sp>
        <p:nvSpPr>
          <p:cNvPr id="174" name="Google Shape;174;p28"/>
          <p:cNvSpPr txBox="1">
            <a:spLocks noGrp="1"/>
          </p:cNvSpPr>
          <p:nvPr>
            <p:ph type="subTitle" idx="1"/>
          </p:nvPr>
        </p:nvSpPr>
        <p:spPr>
          <a:xfrm>
            <a:off x="730633" y="1973150"/>
            <a:ext cx="4433760" cy="60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Weed Removal and Plant Monitoring Robot</a:t>
            </a:r>
            <a:endParaRPr dirty="0"/>
          </a:p>
        </p:txBody>
      </p:sp>
      <p:sp>
        <p:nvSpPr>
          <p:cNvPr id="2" name="Google Shape;174;p28">
            <a:extLst>
              <a:ext uri="{FF2B5EF4-FFF2-40B4-BE49-F238E27FC236}">
                <a16:creationId xmlns:a16="http://schemas.microsoft.com/office/drawing/2014/main" id="{FEB2715B-AD02-51A7-79CF-9D9C991262B7}"/>
              </a:ext>
            </a:extLst>
          </p:cNvPr>
          <p:cNvSpPr txBox="1">
            <a:spLocks/>
          </p:cNvSpPr>
          <p:nvPr/>
        </p:nvSpPr>
        <p:spPr>
          <a:xfrm>
            <a:off x="730633" y="2701237"/>
            <a:ext cx="2783129" cy="12491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800"/>
              <a:buFont typeface="Inter Tight"/>
              <a:buNone/>
              <a:defRPr sz="1400" b="0" i="0" u="none" strike="noStrike" cap="none">
                <a:solidFill>
                  <a:schemeClr val="dk1"/>
                </a:solidFill>
                <a:latin typeface="Inter Tight"/>
                <a:ea typeface="Inter Tight"/>
                <a:cs typeface="Inter Tight"/>
                <a:sym typeface="Inter Tight"/>
              </a:defRPr>
            </a:lvl1pPr>
            <a:lvl2pPr marL="914400" marR="0" lvl="1"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2pPr>
            <a:lvl3pPr marL="1371600" marR="0" lvl="2"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3pPr>
            <a:lvl4pPr marL="1828800" marR="0" lvl="3"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4pPr>
            <a:lvl5pPr marL="2286000" marR="0" lvl="4"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5pPr>
            <a:lvl6pPr marL="2743200" marR="0" lvl="5"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6pPr>
            <a:lvl7pPr marL="3200400" marR="0" lvl="6"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7pPr>
            <a:lvl8pPr marL="3657600" marR="0" lvl="7"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8pPr>
            <a:lvl9pPr marL="4114800" marR="0" lvl="8"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9pPr>
          </a:lstStyle>
          <a:p>
            <a:pPr marL="0" indent="0"/>
            <a:r>
              <a:rPr lang="en-US" b="1" dirty="0"/>
              <a:t>Group Members:</a:t>
            </a:r>
          </a:p>
          <a:p>
            <a:pPr marL="0" indent="0"/>
            <a:r>
              <a:rPr lang="en-US" dirty="0"/>
              <a:t>Saud Ahmed (202576)</a:t>
            </a:r>
          </a:p>
          <a:p>
            <a:pPr marL="0" indent="0"/>
            <a:r>
              <a:rPr lang="en-US"/>
              <a:t>AbdurRehman</a:t>
            </a:r>
            <a:r>
              <a:rPr lang="en-US" dirty="0"/>
              <a:t> Naeem (2021294)</a:t>
            </a:r>
          </a:p>
          <a:p>
            <a:pPr marL="0" indent="0"/>
            <a:r>
              <a:rPr lang="en-US" dirty="0"/>
              <a:t>Ali Ahmed Mir (2021075)</a:t>
            </a:r>
          </a:p>
          <a:p>
            <a:pPr marL="0" indent="0"/>
            <a:r>
              <a:rPr lang="en-US" dirty="0"/>
              <a:t>Shahid Ahmad (2021xxx)</a:t>
            </a:r>
          </a:p>
        </p:txBody>
      </p:sp>
      <p:sp>
        <p:nvSpPr>
          <p:cNvPr id="5" name="Google Shape;174;p28">
            <a:extLst>
              <a:ext uri="{FF2B5EF4-FFF2-40B4-BE49-F238E27FC236}">
                <a16:creationId xmlns:a16="http://schemas.microsoft.com/office/drawing/2014/main" id="{71C6CAD7-85AC-EA0B-689A-26B18FDBF4A8}"/>
              </a:ext>
            </a:extLst>
          </p:cNvPr>
          <p:cNvSpPr txBox="1">
            <a:spLocks/>
          </p:cNvSpPr>
          <p:nvPr/>
        </p:nvSpPr>
        <p:spPr>
          <a:xfrm>
            <a:off x="3875570" y="2701236"/>
            <a:ext cx="2783129" cy="12491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800"/>
              <a:buFont typeface="Inter Tight"/>
              <a:buNone/>
              <a:defRPr sz="1400" b="0" i="0" u="none" strike="noStrike" cap="none">
                <a:solidFill>
                  <a:schemeClr val="dk1"/>
                </a:solidFill>
                <a:latin typeface="Inter Tight"/>
                <a:ea typeface="Inter Tight"/>
                <a:cs typeface="Inter Tight"/>
                <a:sym typeface="Inter Tight"/>
              </a:defRPr>
            </a:lvl1pPr>
            <a:lvl2pPr marL="914400" marR="0" lvl="1"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2pPr>
            <a:lvl3pPr marL="1371600" marR="0" lvl="2"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3pPr>
            <a:lvl4pPr marL="1828800" marR="0" lvl="3"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4pPr>
            <a:lvl5pPr marL="2286000" marR="0" lvl="4"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5pPr>
            <a:lvl6pPr marL="2743200" marR="0" lvl="5"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6pPr>
            <a:lvl7pPr marL="3200400" marR="0" lvl="6"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7pPr>
            <a:lvl8pPr marL="3657600" marR="0" lvl="7"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8pPr>
            <a:lvl9pPr marL="4114800" marR="0" lvl="8" indent="-304800" algn="ctr" rtl="0">
              <a:lnSpc>
                <a:spcPct val="100000"/>
              </a:lnSpc>
              <a:spcBef>
                <a:spcPts val="0"/>
              </a:spcBef>
              <a:spcAft>
                <a:spcPts val="0"/>
              </a:spcAft>
              <a:buClr>
                <a:schemeClr val="dk1"/>
              </a:buClr>
              <a:buSzPts val="1800"/>
              <a:buFont typeface="Inter Tight"/>
              <a:buNone/>
              <a:defRPr sz="1800" b="0" i="0" u="none" strike="noStrike" cap="none">
                <a:solidFill>
                  <a:schemeClr val="dk1"/>
                </a:solidFill>
                <a:latin typeface="Inter Tight"/>
                <a:ea typeface="Inter Tight"/>
                <a:cs typeface="Inter Tight"/>
                <a:sym typeface="Inter Tight"/>
              </a:defRPr>
            </a:lvl9pPr>
          </a:lstStyle>
          <a:p>
            <a:pPr marL="0" indent="0"/>
            <a:r>
              <a:rPr lang="en-US" b="1" dirty="0"/>
              <a:t>Advisor:</a:t>
            </a:r>
          </a:p>
          <a:p>
            <a:pPr marL="0" indent="0"/>
            <a:r>
              <a:rPr lang="en-US" dirty="0"/>
              <a:t>Dr. Muhammad Hanif</a:t>
            </a:r>
          </a:p>
          <a:p>
            <a:pPr marL="0" indent="0"/>
            <a:endParaRPr lang="en-US" dirty="0"/>
          </a:p>
          <a:p>
            <a:pPr marL="0" indent="0"/>
            <a:r>
              <a:rPr lang="en-US" b="1" dirty="0"/>
              <a:t>Co-Advisor:</a:t>
            </a:r>
          </a:p>
          <a:p>
            <a:pPr marL="0" indent="0"/>
            <a:r>
              <a:rPr lang="en-US" dirty="0"/>
              <a:t>Dr. </a:t>
            </a:r>
            <a:r>
              <a:rPr lang="en-US" dirty="0" err="1"/>
              <a:t>Taimur</a:t>
            </a:r>
            <a:r>
              <a:rPr lang="en-US" dirty="0"/>
              <a:t> </a:t>
            </a:r>
          </a:p>
        </p:txBody>
      </p:sp>
      <p:pic>
        <p:nvPicPr>
          <p:cNvPr id="8" name="Picture 7" descr="A yellow tractor with a bucket&#10;&#10;Description automatically generated">
            <a:extLst>
              <a:ext uri="{FF2B5EF4-FFF2-40B4-BE49-F238E27FC236}">
                <a16:creationId xmlns:a16="http://schemas.microsoft.com/office/drawing/2014/main" id="{9F99C5C4-86BC-CD22-AD60-7DDFAC5A01B1}"/>
              </a:ext>
            </a:extLst>
          </p:cNvPr>
          <p:cNvPicPr>
            <a:picLocks noChangeAspect="1"/>
          </p:cNvPicPr>
          <p:nvPr/>
        </p:nvPicPr>
        <p:blipFill>
          <a:blip r:embed="rId3"/>
          <a:stretch>
            <a:fillRect/>
          </a:stretch>
        </p:blipFill>
        <p:spPr>
          <a:xfrm>
            <a:off x="5389019" y="2571750"/>
            <a:ext cx="3024348" cy="23564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1"/>
          <p:cNvSpPr txBox="1">
            <a:spLocks noGrp="1"/>
          </p:cNvSpPr>
          <p:nvPr>
            <p:ph type="title"/>
          </p:nvPr>
        </p:nvSpPr>
        <p:spPr>
          <a:xfrm>
            <a:off x="3367533" y="520790"/>
            <a:ext cx="4602822" cy="6696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US" sz="3600" dirty="0"/>
              <a:t>Project Overview:</a:t>
            </a:r>
          </a:p>
        </p:txBody>
      </p:sp>
      <p:sp>
        <p:nvSpPr>
          <p:cNvPr id="10" name="TextBox 9">
            <a:extLst>
              <a:ext uri="{FF2B5EF4-FFF2-40B4-BE49-F238E27FC236}">
                <a16:creationId xmlns:a16="http://schemas.microsoft.com/office/drawing/2014/main" id="{249A4035-F449-7A65-1A2B-CF4FD71C5E27}"/>
              </a:ext>
            </a:extLst>
          </p:cNvPr>
          <p:cNvSpPr txBox="1"/>
          <p:nvPr/>
        </p:nvSpPr>
        <p:spPr>
          <a:xfrm>
            <a:off x="3372756" y="1325367"/>
            <a:ext cx="5247263" cy="2739211"/>
          </a:xfrm>
          <a:prstGeom prst="rect">
            <a:avLst/>
          </a:prstGeom>
          <a:noFill/>
        </p:spPr>
        <p:txBody>
          <a:bodyPr wrap="square" rtlCol="0">
            <a:spAutoFit/>
          </a:bodyPr>
          <a:lstStyle/>
          <a:p>
            <a:r>
              <a:rPr lang="en-US" sz="1800" b="1" dirty="0">
                <a:solidFill>
                  <a:schemeClr val="tx1"/>
                </a:solidFill>
                <a:latin typeface="Inter Tight" panose="020B0604020202020204" charset="0"/>
                <a:ea typeface="Inter Tight" panose="020B0604020202020204" charset="0"/>
                <a:cs typeface="Inter Tight" panose="020B0604020202020204" charset="0"/>
              </a:rPr>
              <a:t>Problem Statement:</a:t>
            </a:r>
          </a:p>
          <a:p>
            <a:r>
              <a:rPr lang="en-US" dirty="0">
                <a:solidFill>
                  <a:schemeClr val="tx1"/>
                </a:solidFill>
                <a:latin typeface="Inter Tight" panose="020B0604020202020204" charset="0"/>
                <a:ea typeface="Inter Tight" panose="020B0604020202020204" charset="0"/>
                <a:cs typeface="Inter Tight" panose="020B0604020202020204" charset="0"/>
              </a:rPr>
              <a:t>Weeds significantly reduce agricultural productivity by competing with crops for essential resources such as water, nutrients, and sunlight. This competition can lead to yield losses of up to 30% in some crops. Limitations of Traditional Methods:</a:t>
            </a:r>
          </a:p>
          <a:p>
            <a:endParaRPr lang="en-US" b="1" dirty="0">
              <a:solidFill>
                <a:schemeClr val="tx1"/>
              </a:solidFill>
              <a:latin typeface="Inter Tight" panose="020B0604020202020204" charset="0"/>
              <a:ea typeface="Inter Tight" panose="020B0604020202020204" charset="0"/>
              <a:cs typeface="Inter Tight" panose="020B0604020202020204" charset="0"/>
            </a:endParaRPr>
          </a:p>
          <a:p>
            <a:r>
              <a:rPr lang="en-US" b="1" dirty="0">
                <a:solidFill>
                  <a:schemeClr val="tx1"/>
                </a:solidFill>
                <a:latin typeface="Inter Tight" panose="020B0604020202020204" charset="0"/>
                <a:ea typeface="Inter Tight" panose="020B0604020202020204" charset="0"/>
                <a:cs typeface="Inter Tight" panose="020B0604020202020204" charset="0"/>
              </a:rPr>
              <a:t>Inefficient: </a:t>
            </a:r>
            <a:r>
              <a:rPr lang="en-US" dirty="0">
                <a:solidFill>
                  <a:schemeClr val="tx1"/>
                </a:solidFill>
                <a:latin typeface="Inter Tight" panose="020B0604020202020204" charset="0"/>
                <a:ea typeface="Inter Tight" panose="020B0604020202020204" charset="0"/>
                <a:cs typeface="Inter Tight" panose="020B0604020202020204" charset="0"/>
              </a:rPr>
              <a:t>Manual labor and herbicide use are time-consuming.</a:t>
            </a:r>
          </a:p>
          <a:p>
            <a:endParaRPr lang="en-US" dirty="0">
              <a:solidFill>
                <a:schemeClr val="tx1"/>
              </a:solidFill>
              <a:latin typeface="Inter Tight" panose="020B0604020202020204" charset="0"/>
              <a:ea typeface="Inter Tight" panose="020B0604020202020204" charset="0"/>
              <a:cs typeface="Inter Tight" panose="020B0604020202020204" charset="0"/>
            </a:endParaRPr>
          </a:p>
          <a:p>
            <a:r>
              <a:rPr lang="en-US" b="1" dirty="0">
                <a:solidFill>
                  <a:schemeClr val="tx1"/>
                </a:solidFill>
                <a:latin typeface="Inter Tight" panose="020B0604020202020204" charset="0"/>
                <a:ea typeface="Inter Tight" panose="020B0604020202020204" charset="0"/>
                <a:cs typeface="Inter Tight" panose="020B0604020202020204" charset="0"/>
              </a:rPr>
              <a:t>Costly:</a:t>
            </a:r>
            <a:r>
              <a:rPr lang="en-US" dirty="0">
                <a:solidFill>
                  <a:schemeClr val="tx1"/>
                </a:solidFill>
                <a:latin typeface="Inter Tight" panose="020B0604020202020204" charset="0"/>
                <a:ea typeface="Inter Tight" panose="020B0604020202020204" charset="0"/>
                <a:cs typeface="Inter Tight" panose="020B0604020202020204" charset="0"/>
              </a:rPr>
              <a:t> Traditional methods incur high labor and chemical costs.</a:t>
            </a:r>
          </a:p>
          <a:p>
            <a:endParaRPr lang="en-US" dirty="0">
              <a:solidFill>
                <a:schemeClr val="tx1"/>
              </a:solidFill>
              <a:latin typeface="Inter Tight" panose="020B0604020202020204" charset="0"/>
              <a:ea typeface="Inter Tight" panose="020B0604020202020204" charset="0"/>
              <a:cs typeface="Inter Tight" panose="020B0604020202020204" charset="0"/>
            </a:endParaRPr>
          </a:p>
          <a:p>
            <a:r>
              <a:rPr lang="en-US" b="1" dirty="0">
                <a:solidFill>
                  <a:schemeClr val="tx1"/>
                </a:solidFill>
                <a:latin typeface="Inter Tight" panose="020B0604020202020204" charset="0"/>
                <a:ea typeface="Inter Tight" panose="020B0604020202020204" charset="0"/>
                <a:cs typeface="Inter Tight" panose="020B0604020202020204" charset="0"/>
              </a:rPr>
              <a:t>Environmental Harm: </a:t>
            </a:r>
            <a:r>
              <a:rPr lang="en-US" dirty="0">
                <a:solidFill>
                  <a:schemeClr val="tx1"/>
                </a:solidFill>
                <a:latin typeface="Inter Tight" panose="020B0604020202020204" charset="0"/>
                <a:ea typeface="Inter Tight" panose="020B0604020202020204" charset="0"/>
                <a:cs typeface="Inter Tight" panose="020B0604020202020204" charset="0"/>
              </a:rPr>
              <a:t>Herbicides can negatively affect ecosystems and soil health.</a:t>
            </a:r>
          </a:p>
        </p:txBody>
      </p:sp>
      <p:pic>
        <p:nvPicPr>
          <p:cNvPr id="2" name="Picture 1" descr="A blue and black line drawing of gears&#10;&#10;Description automatically generated">
            <a:extLst>
              <a:ext uri="{FF2B5EF4-FFF2-40B4-BE49-F238E27FC236}">
                <a16:creationId xmlns:a16="http://schemas.microsoft.com/office/drawing/2014/main" id="{3593EA12-0A94-90A8-F9A2-C1E867478C5D}"/>
              </a:ext>
            </a:extLst>
          </p:cNvPr>
          <p:cNvPicPr>
            <a:picLocks noChangeAspect="1"/>
          </p:cNvPicPr>
          <p:nvPr/>
        </p:nvPicPr>
        <p:blipFill rotWithShape="1">
          <a:blip r:embed="rId3"/>
          <a:srcRect l="24659" t="19800" r="23763" b="27619"/>
          <a:stretch/>
        </p:blipFill>
        <p:spPr>
          <a:xfrm>
            <a:off x="523981" y="976394"/>
            <a:ext cx="2539386" cy="27933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1"/>
          <p:cNvSpPr txBox="1">
            <a:spLocks noGrp="1"/>
          </p:cNvSpPr>
          <p:nvPr>
            <p:ph type="title"/>
          </p:nvPr>
        </p:nvSpPr>
        <p:spPr>
          <a:xfrm>
            <a:off x="3367533" y="520790"/>
            <a:ext cx="4602822" cy="6696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US" sz="3600" dirty="0"/>
              <a:t>Project Overview:</a:t>
            </a:r>
          </a:p>
        </p:txBody>
      </p:sp>
      <p:sp>
        <p:nvSpPr>
          <p:cNvPr id="10" name="TextBox 9">
            <a:extLst>
              <a:ext uri="{FF2B5EF4-FFF2-40B4-BE49-F238E27FC236}">
                <a16:creationId xmlns:a16="http://schemas.microsoft.com/office/drawing/2014/main" id="{249A4035-F449-7A65-1A2B-CF4FD71C5E27}"/>
              </a:ext>
            </a:extLst>
          </p:cNvPr>
          <p:cNvSpPr txBox="1"/>
          <p:nvPr/>
        </p:nvSpPr>
        <p:spPr>
          <a:xfrm>
            <a:off x="3365007" y="1159409"/>
            <a:ext cx="5247263" cy="2735942"/>
          </a:xfrm>
          <a:prstGeom prst="rect">
            <a:avLst/>
          </a:prstGeom>
          <a:noFill/>
        </p:spPr>
        <p:txBody>
          <a:bodyPr wrap="square" rtlCol="0">
            <a:spAutoFit/>
          </a:bodyPr>
          <a:lstStyle/>
          <a:p>
            <a:pPr>
              <a:lnSpc>
                <a:spcPct val="200000"/>
              </a:lnSpc>
            </a:pPr>
            <a:r>
              <a:rPr lang="en-US" sz="1800" b="1" dirty="0">
                <a:solidFill>
                  <a:schemeClr val="tx1"/>
                </a:solidFill>
                <a:latin typeface="Inter Tight" panose="020B0604020202020204" charset="0"/>
                <a:ea typeface="Inter Tight" panose="020B0604020202020204" charset="0"/>
                <a:cs typeface="Inter Tight" panose="020B0604020202020204" charset="0"/>
              </a:rPr>
              <a:t>Aims/Proposed Solution:</a:t>
            </a:r>
          </a:p>
          <a:p>
            <a:pPr marL="285750" indent="-285750">
              <a:lnSpc>
                <a:spcPct val="200000"/>
              </a:lnSpc>
              <a:buFont typeface="Arial" panose="020B0604020202020204" pitchFamily="34" charset="0"/>
              <a:buChar char="•"/>
            </a:pPr>
            <a:r>
              <a:rPr lang="en-US" dirty="0">
                <a:solidFill>
                  <a:schemeClr val="tx1"/>
                </a:solidFill>
                <a:latin typeface="Inter Tight" panose="020B0604020202020204" charset="0"/>
                <a:ea typeface="Inter Tight" panose="020B0604020202020204" charset="0"/>
                <a:cs typeface="Inter Tight" panose="020B0604020202020204" charset="0"/>
              </a:rPr>
              <a:t>Develop an autonomous, solar-powered robot for weed detection and removal.</a:t>
            </a:r>
          </a:p>
          <a:p>
            <a:pPr marL="285750" indent="-285750">
              <a:lnSpc>
                <a:spcPct val="200000"/>
              </a:lnSpc>
              <a:buFont typeface="Arial" panose="020B0604020202020204" pitchFamily="34" charset="0"/>
              <a:buChar char="•"/>
            </a:pPr>
            <a:r>
              <a:rPr lang="en-US" dirty="0">
                <a:solidFill>
                  <a:schemeClr val="tx1"/>
                </a:solidFill>
                <a:latin typeface="Inter Tight" panose="020B0604020202020204" charset="0"/>
                <a:ea typeface="Inter Tight" panose="020B0604020202020204" charset="0"/>
                <a:cs typeface="Inter Tight" panose="020B0604020202020204" charset="0"/>
              </a:rPr>
              <a:t>Utilize laser technology for precise weed elimination.</a:t>
            </a:r>
          </a:p>
          <a:p>
            <a:pPr marL="285750" indent="-285750">
              <a:lnSpc>
                <a:spcPct val="200000"/>
              </a:lnSpc>
              <a:buFont typeface="Arial" panose="020B0604020202020204" pitchFamily="34" charset="0"/>
              <a:buChar char="•"/>
            </a:pPr>
            <a:r>
              <a:rPr lang="en-US" dirty="0">
                <a:solidFill>
                  <a:schemeClr val="tx1"/>
                </a:solidFill>
                <a:latin typeface="Inter Tight" panose="020B0604020202020204" charset="0"/>
                <a:ea typeface="Inter Tight" panose="020B0604020202020204" charset="0"/>
                <a:cs typeface="Inter Tight" panose="020B0604020202020204" charset="0"/>
              </a:rPr>
              <a:t>Incorporate real-time plant monitoring to enhance agricultural practices.</a:t>
            </a:r>
          </a:p>
        </p:txBody>
      </p:sp>
      <p:pic>
        <p:nvPicPr>
          <p:cNvPr id="2" name="Picture 1" descr="A blue and black line drawing of gears&#10;&#10;Description automatically generated">
            <a:extLst>
              <a:ext uri="{FF2B5EF4-FFF2-40B4-BE49-F238E27FC236}">
                <a16:creationId xmlns:a16="http://schemas.microsoft.com/office/drawing/2014/main" id="{3593EA12-0A94-90A8-F9A2-C1E867478C5D}"/>
              </a:ext>
            </a:extLst>
          </p:cNvPr>
          <p:cNvPicPr>
            <a:picLocks noChangeAspect="1"/>
          </p:cNvPicPr>
          <p:nvPr/>
        </p:nvPicPr>
        <p:blipFill rotWithShape="1">
          <a:blip r:embed="rId3"/>
          <a:srcRect l="24659" t="19800" r="23763" b="27619"/>
          <a:stretch/>
        </p:blipFill>
        <p:spPr>
          <a:xfrm>
            <a:off x="523981" y="976394"/>
            <a:ext cx="2539386" cy="2793324"/>
          </a:xfrm>
          <a:prstGeom prst="rect">
            <a:avLst/>
          </a:prstGeom>
        </p:spPr>
      </p:pic>
    </p:spTree>
    <p:extLst>
      <p:ext uri="{BB962C8B-B14F-4D97-AF65-F5344CB8AC3E}">
        <p14:creationId xmlns:p14="http://schemas.microsoft.com/office/powerpoint/2010/main" val="220718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1"/>
          <p:cNvSpPr txBox="1">
            <a:spLocks noGrp="1"/>
          </p:cNvSpPr>
          <p:nvPr>
            <p:ph type="title"/>
          </p:nvPr>
        </p:nvSpPr>
        <p:spPr>
          <a:xfrm>
            <a:off x="3367533" y="520790"/>
            <a:ext cx="4602822" cy="6696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US" sz="3600" dirty="0"/>
              <a:t>Project Overview:</a:t>
            </a:r>
          </a:p>
        </p:txBody>
      </p:sp>
      <p:sp>
        <p:nvSpPr>
          <p:cNvPr id="10" name="TextBox 9">
            <a:extLst>
              <a:ext uri="{FF2B5EF4-FFF2-40B4-BE49-F238E27FC236}">
                <a16:creationId xmlns:a16="http://schemas.microsoft.com/office/drawing/2014/main" id="{249A4035-F449-7A65-1A2B-CF4FD71C5E27}"/>
              </a:ext>
            </a:extLst>
          </p:cNvPr>
          <p:cNvSpPr txBox="1"/>
          <p:nvPr/>
        </p:nvSpPr>
        <p:spPr>
          <a:xfrm>
            <a:off x="3365007" y="1159409"/>
            <a:ext cx="5247263" cy="1874167"/>
          </a:xfrm>
          <a:prstGeom prst="rect">
            <a:avLst/>
          </a:prstGeom>
          <a:noFill/>
        </p:spPr>
        <p:txBody>
          <a:bodyPr wrap="square" rtlCol="0">
            <a:spAutoFit/>
          </a:bodyPr>
          <a:lstStyle/>
          <a:p>
            <a:pPr>
              <a:lnSpc>
                <a:spcPct val="200000"/>
              </a:lnSpc>
            </a:pPr>
            <a:r>
              <a:rPr lang="en-US" sz="1800" b="1" dirty="0">
                <a:solidFill>
                  <a:schemeClr val="tx1"/>
                </a:solidFill>
                <a:latin typeface="Inter Tight" panose="020B0604020202020204" charset="0"/>
                <a:ea typeface="Inter Tight" panose="020B0604020202020204" charset="0"/>
                <a:cs typeface="Inter Tight" panose="020B0604020202020204" charset="0"/>
              </a:rPr>
              <a:t>Goals/Objectives:</a:t>
            </a:r>
          </a:p>
          <a:p>
            <a:pPr marL="285750" indent="-285750">
              <a:lnSpc>
                <a:spcPct val="200000"/>
              </a:lnSpc>
              <a:buFont typeface="Arial" panose="020B0604020202020204" pitchFamily="34" charset="0"/>
              <a:buChar char="•"/>
            </a:pPr>
            <a:r>
              <a:rPr lang="en-US" dirty="0">
                <a:solidFill>
                  <a:schemeClr val="tx1"/>
                </a:solidFill>
                <a:latin typeface="Inter Tight" panose="020B0604020202020204" charset="0"/>
                <a:ea typeface="Inter Tight" panose="020B0604020202020204" charset="0"/>
                <a:cs typeface="Inter Tight" panose="020B0604020202020204" charset="0"/>
              </a:rPr>
              <a:t>Improve farming efficiency.</a:t>
            </a:r>
          </a:p>
          <a:p>
            <a:pPr marL="285750" indent="-285750">
              <a:lnSpc>
                <a:spcPct val="200000"/>
              </a:lnSpc>
              <a:buFont typeface="Arial" panose="020B0604020202020204" pitchFamily="34" charset="0"/>
              <a:buChar char="•"/>
            </a:pPr>
            <a:r>
              <a:rPr lang="en-US" dirty="0">
                <a:solidFill>
                  <a:schemeClr val="tx1"/>
                </a:solidFill>
                <a:latin typeface="Inter Tight" panose="020B0604020202020204" charset="0"/>
                <a:ea typeface="Inter Tight" panose="020B0604020202020204" charset="0"/>
                <a:cs typeface="Inter Tight" panose="020B0604020202020204" charset="0"/>
              </a:rPr>
              <a:t>Reduce reliance on harmful chemicals.</a:t>
            </a:r>
          </a:p>
          <a:p>
            <a:pPr marL="285750" indent="-285750">
              <a:lnSpc>
                <a:spcPct val="200000"/>
              </a:lnSpc>
              <a:buFont typeface="Arial" panose="020B0604020202020204" pitchFamily="34" charset="0"/>
              <a:buChar char="•"/>
            </a:pPr>
            <a:r>
              <a:rPr lang="en-US" dirty="0">
                <a:solidFill>
                  <a:schemeClr val="tx1"/>
                </a:solidFill>
                <a:latin typeface="Inter Tight" panose="020B0604020202020204" charset="0"/>
                <a:ea typeface="Inter Tight" panose="020B0604020202020204" charset="0"/>
                <a:cs typeface="Inter Tight" panose="020B0604020202020204" charset="0"/>
              </a:rPr>
              <a:t>Promote sustainable agriculture.</a:t>
            </a:r>
          </a:p>
        </p:txBody>
      </p:sp>
      <p:pic>
        <p:nvPicPr>
          <p:cNvPr id="2" name="Picture 1" descr="A blue and black line drawing of gears&#10;&#10;Description automatically generated">
            <a:extLst>
              <a:ext uri="{FF2B5EF4-FFF2-40B4-BE49-F238E27FC236}">
                <a16:creationId xmlns:a16="http://schemas.microsoft.com/office/drawing/2014/main" id="{3593EA12-0A94-90A8-F9A2-C1E867478C5D}"/>
              </a:ext>
            </a:extLst>
          </p:cNvPr>
          <p:cNvPicPr>
            <a:picLocks noChangeAspect="1"/>
          </p:cNvPicPr>
          <p:nvPr/>
        </p:nvPicPr>
        <p:blipFill rotWithShape="1">
          <a:blip r:embed="rId3"/>
          <a:srcRect l="24659" t="19800" r="23763" b="27619"/>
          <a:stretch/>
        </p:blipFill>
        <p:spPr>
          <a:xfrm>
            <a:off x="523981" y="976394"/>
            <a:ext cx="2539386" cy="2793324"/>
          </a:xfrm>
          <a:prstGeom prst="rect">
            <a:avLst/>
          </a:prstGeom>
        </p:spPr>
      </p:pic>
    </p:spTree>
    <p:extLst>
      <p:ext uri="{BB962C8B-B14F-4D97-AF65-F5344CB8AC3E}">
        <p14:creationId xmlns:p14="http://schemas.microsoft.com/office/powerpoint/2010/main" val="2008365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855882" y="382657"/>
            <a:ext cx="3771487" cy="86276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600" dirty="0"/>
              <a:t>Motivation</a:t>
            </a:r>
            <a:endParaRPr sz="3600" dirty="0"/>
          </a:p>
        </p:txBody>
      </p:sp>
      <p:sp>
        <p:nvSpPr>
          <p:cNvPr id="330" name="Google Shape;330;p32"/>
          <p:cNvSpPr txBox="1">
            <a:spLocks noGrp="1"/>
          </p:cNvSpPr>
          <p:nvPr>
            <p:ph type="subTitle" idx="1"/>
          </p:nvPr>
        </p:nvSpPr>
        <p:spPr>
          <a:xfrm>
            <a:off x="855882" y="1090441"/>
            <a:ext cx="4377663" cy="1166852"/>
          </a:xfrm>
          <a:prstGeom prst="rect">
            <a:avLst/>
          </a:prstGeom>
        </p:spPr>
        <p:txBody>
          <a:bodyPr spcFirstLastPara="1" wrap="square" lIns="91425" tIns="91425" rIns="91425" bIns="91425" anchor="t" anchorCtr="0">
            <a:noAutofit/>
          </a:bodyPr>
          <a:lstStyle/>
          <a:p>
            <a:pPr marL="400050" lvl="0" indent="-400050" algn="l" rtl="0">
              <a:spcBef>
                <a:spcPts val="0"/>
              </a:spcBef>
              <a:spcAft>
                <a:spcPts val="0"/>
              </a:spcAft>
              <a:buClr>
                <a:schemeClr val="dk1"/>
              </a:buClr>
              <a:buSzPts val="1100"/>
              <a:buFont typeface="Wingdings" panose="05000000000000000000" pitchFamily="2" charset="2"/>
              <a:buChar char="§"/>
            </a:pPr>
            <a:r>
              <a:rPr lang="en-US" dirty="0"/>
              <a:t>Agriculture is crucial for Pakistan's economy, employing 40% of the workforce and contributing 20% to GDP.</a:t>
            </a:r>
          </a:p>
          <a:p>
            <a:pPr marL="400050" lvl="0" indent="-400050" algn="l" rtl="0">
              <a:spcBef>
                <a:spcPts val="0"/>
              </a:spcBef>
              <a:spcAft>
                <a:spcPts val="0"/>
              </a:spcAft>
              <a:buClr>
                <a:schemeClr val="dk1"/>
              </a:buClr>
              <a:buSzPts val="1100"/>
              <a:buFont typeface="Wingdings" panose="05000000000000000000" pitchFamily="2" charset="2"/>
              <a:buChar char="§"/>
            </a:pPr>
            <a:endParaRPr lang="en-US" dirty="0"/>
          </a:p>
          <a:p>
            <a:pPr marL="400050" lvl="0" indent="-400050" algn="l" rtl="0">
              <a:spcBef>
                <a:spcPts val="0"/>
              </a:spcBef>
              <a:spcAft>
                <a:spcPts val="0"/>
              </a:spcAft>
              <a:buClr>
                <a:schemeClr val="dk1"/>
              </a:buClr>
              <a:buSzPts val="1100"/>
              <a:buFont typeface="Wingdings" panose="05000000000000000000" pitchFamily="2" charset="2"/>
              <a:buChar char="§"/>
            </a:pPr>
            <a:r>
              <a:rPr lang="en-US" dirty="0"/>
              <a:t>Weeds reduce crop yields by competing for vital resources, causing significant economic losses.</a:t>
            </a:r>
          </a:p>
          <a:p>
            <a:pPr marL="400050" lvl="0" indent="-400050" algn="l" rtl="0">
              <a:spcBef>
                <a:spcPts val="0"/>
              </a:spcBef>
              <a:spcAft>
                <a:spcPts val="0"/>
              </a:spcAft>
              <a:buClr>
                <a:schemeClr val="dk1"/>
              </a:buClr>
              <a:buSzPts val="1100"/>
              <a:buFont typeface="Wingdings" panose="05000000000000000000" pitchFamily="2" charset="2"/>
              <a:buChar char="§"/>
            </a:pPr>
            <a:endParaRPr lang="en-US" dirty="0"/>
          </a:p>
          <a:p>
            <a:pPr marL="400050" lvl="0" indent="-400050" algn="l" rtl="0">
              <a:spcBef>
                <a:spcPts val="0"/>
              </a:spcBef>
              <a:spcAft>
                <a:spcPts val="0"/>
              </a:spcAft>
              <a:buClr>
                <a:schemeClr val="dk1"/>
              </a:buClr>
              <a:buSzPts val="1100"/>
              <a:buFont typeface="Wingdings" panose="05000000000000000000" pitchFamily="2" charset="2"/>
              <a:buChar char="§"/>
            </a:pPr>
            <a:r>
              <a:rPr lang="en-US" dirty="0"/>
              <a:t>Current weed management relies on manual labor and harmful herbicides.</a:t>
            </a:r>
          </a:p>
          <a:p>
            <a:pPr marL="400050" lvl="0" indent="-400050" algn="l" rtl="0">
              <a:spcBef>
                <a:spcPts val="0"/>
              </a:spcBef>
              <a:spcAft>
                <a:spcPts val="0"/>
              </a:spcAft>
              <a:buClr>
                <a:schemeClr val="dk1"/>
              </a:buClr>
              <a:buSzPts val="1100"/>
              <a:buFont typeface="Wingdings" panose="05000000000000000000" pitchFamily="2" charset="2"/>
              <a:buChar char="§"/>
            </a:pPr>
            <a:endParaRPr lang="en-US" dirty="0"/>
          </a:p>
          <a:p>
            <a:pPr marL="400050" lvl="0" indent="-400050" algn="l" rtl="0">
              <a:spcBef>
                <a:spcPts val="0"/>
              </a:spcBef>
              <a:spcAft>
                <a:spcPts val="0"/>
              </a:spcAft>
              <a:buClr>
                <a:schemeClr val="dk1"/>
              </a:buClr>
              <a:buSzPts val="1100"/>
              <a:buFont typeface="Wingdings" panose="05000000000000000000" pitchFamily="2" charset="2"/>
              <a:buChar char="§"/>
            </a:pPr>
            <a:r>
              <a:rPr lang="en-US" dirty="0"/>
              <a:t>Our AI-based weed removal robot offers an automated, eco-friendly solution using laser technology.</a:t>
            </a:r>
          </a:p>
          <a:p>
            <a:pPr marL="400050" lvl="0" indent="-400050" algn="l" rtl="0">
              <a:spcBef>
                <a:spcPts val="0"/>
              </a:spcBef>
              <a:spcAft>
                <a:spcPts val="0"/>
              </a:spcAft>
              <a:buClr>
                <a:schemeClr val="dk1"/>
              </a:buClr>
              <a:buSzPts val="1100"/>
              <a:buFont typeface="Wingdings" panose="05000000000000000000" pitchFamily="2" charset="2"/>
              <a:buChar char="§"/>
            </a:pPr>
            <a:endParaRPr lang="en-US" dirty="0"/>
          </a:p>
          <a:p>
            <a:pPr marL="400050" lvl="0" indent="-400050" algn="l" rtl="0">
              <a:spcBef>
                <a:spcPts val="0"/>
              </a:spcBef>
              <a:spcAft>
                <a:spcPts val="0"/>
              </a:spcAft>
              <a:buClr>
                <a:schemeClr val="dk1"/>
              </a:buClr>
              <a:buSzPts val="1100"/>
              <a:buFont typeface="Wingdings" panose="05000000000000000000" pitchFamily="2" charset="2"/>
              <a:buChar char="§"/>
            </a:pPr>
            <a:r>
              <a:rPr lang="en-US" dirty="0"/>
              <a:t>This innovation can improve yields, reduce costs, and promote sustainable farming in Pakistan.</a:t>
            </a:r>
          </a:p>
        </p:txBody>
      </p:sp>
      <p:pic>
        <p:nvPicPr>
          <p:cNvPr id="3" name="Picture 2" descr="A person climbing up a staircase&#10;&#10;Description automatically generated">
            <a:extLst>
              <a:ext uri="{FF2B5EF4-FFF2-40B4-BE49-F238E27FC236}">
                <a16:creationId xmlns:a16="http://schemas.microsoft.com/office/drawing/2014/main" id="{086C5B75-0788-F311-61BE-C97C0112F8C5}"/>
              </a:ext>
            </a:extLst>
          </p:cNvPr>
          <p:cNvPicPr>
            <a:picLocks noChangeAspect="1"/>
          </p:cNvPicPr>
          <p:nvPr/>
        </p:nvPicPr>
        <p:blipFill rotWithShape="1">
          <a:blip r:embed="rId3"/>
          <a:srcRect l="21095" t="11848" r="23739" b="11484"/>
          <a:stretch/>
        </p:blipFill>
        <p:spPr>
          <a:xfrm>
            <a:off x="5425077" y="1245421"/>
            <a:ext cx="2863041" cy="265265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5"/>
          <p:cNvSpPr txBox="1">
            <a:spLocks noGrp="1"/>
          </p:cNvSpPr>
          <p:nvPr>
            <p:ph type="title" idx="6"/>
          </p:nvPr>
        </p:nvSpPr>
        <p:spPr>
          <a:xfrm>
            <a:off x="720000" y="465572"/>
            <a:ext cx="7704000" cy="87006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solidFill>
                  <a:schemeClr val="tx1"/>
                </a:solidFill>
                <a:effectLst/>
                <a:latin typeface="Inter Tight" panose="020B0604020202020204" charset="0"/>
                <a:ea typeface="Inter Tight" panose="020B0604020202020204" charset="0"/>
                <a:cs typeface="Inter Tight" panose="020B0604020202020204" charset="0"/>
              </a:rPr>
              <a:t>Literature Review</a:t>
            </a:r>
            <a:endParaRPr sz="5400" dirty="0">
              <a:solidFill>
                <a:schemeClr val="tx1"/>
              </a:solidFill>
              <a:latin typeface="Inter Tight" panose="020B0604020202020204" charset="0"/>
              <a:ea typeface="Inter Tight" panose="020B0604020202020204" charset="0"/>
              <a:cs typeface="Inter Tight" panose="020B0604020202020204" charset="0"/>
            </a:endParaRPr>
          </a:p>
        </p:txBody>
      </p:sp>
      <p:sp>
        <p:nvSpPr>
          <p:cNvPr id="391" name="Google Shape;391;p35"/>
          <p:cNvSpPr txBox="1">
            <a:spLocks noGrp="1"/>
          </p:cNvSpPr>
          <p:nvPr>
            <p:ph type="subTitle" idx="3"/>
          </p:nvPr>
        </p:nvSpPr>
        <p:spPr>
          <a:xfrm>
            <a:off x="1091042" y="2217641"/>
            <a:ext cx="4117956" cy="211929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Clr>
                <a:schemeClr val="dk1"/>
              </a:buClr>
              <a:buSzPts val="1100"/>
              <a:buFont typeface="+mj-lt"/>
              <a:buAutoNum type="romanUcPeriod"/>
            </a:pPr>
            <a:r>
              <a:rPr lang="en-US" sz="1600" dirty="0"/>
              <a:t>Traditional weeding methods.</a:t>
            </a:r>
          </a:p>
          <a:p>
            <a:pPr marL="285750" lvl="0" indent="-285750" algn="l" rtl="0">
              <a:spcBef>
                <a:spcPts val="0"/>
              </a:spcBef>
              <a:spcAft>
                <a:spcPts val="0"/>
              </a:spcAft>
              <a:buClr>
                <a:schemeClr val="dk1"/>
              </a:buClr>
              <a:buSzPts val="1100"/>
              <a:buFont typeface="+mj-lt"/>
              <a:buAutoNum type="romanUcPeriod"/>
            </a:pPr>
            <a:r>
              <a:rPr lang="en-US" sz="1600" dirty="0"/>
              <a:t>Robotic weeding systems (limited functionalities </a:t>
            </a:r>
            <a:r>
              <a:rPr lang="en-US" sz="1600" dirty="0" err="1"/>
              <a:t>i.e</a:t>
            </a:r>
            <a:r>
              <a:rPr lang="en-US" sz="1600" dirty="0"/>
              <a:t> </a:t>
            </a:r>
            <a:r>
              <a:rPr lang="en-US" sz="1600" dirty="0" err="1"/>
              <a:t>Ecorobotix</a:t>
            </a:r>
            <a:r>
              <a:rPr lang="en-US" sz="1600" dirty="0"/>
              <a:t> and </a:t>
            </a:r>
            <a:r>
              <a:rPr lang="en-US" sz="1600" dirty="0" err="1"/>
              <a:t>Naio</a:t>
            </a:r>
            <a:r>
              <a:rPr lang="en-US" sz="1600" dirty="0"/>
              <a:t> technologies).</a:t>
            </a:r>
          </a:p>
          <a:p>
            <a:pPr marL="285750" lvl="0" indent="-285750" algn="l" rtl="0">
              <a:spcBef>
                <a:spcPts val="0"/>
              </a:spcBef>
              <a:spcAft>
                <a:spcPts val="0"/>
              </a:spcAft>
              <a:buClr>
                <a:schemeClr val="dk1"/>
              </a:buClr>
              <a:buSzPts val="1100"/>
              <a:buFont typeface="+mj-lt"/>
              <a:buAutoNum type="romanUcPeriod"/>
            </a:pPr>
            <a:r>
              <a:rPr lang="en-US" sz="1600" dirty="0"/>
              <a:t>Plant monitoring systems (standalone, not integrated with weeding  </a:t>
            </a:r>
            <a:r>
              <a:rPr lang="en-US" sz="1600" dirty="0" err="1"/>
              <a:t>e.g</a:t>
            </a:r>
            <a:r>
              <a:rPr lang="en-US" sz="1600" dirty="0"/>
              <a:t> </a:t>
            </a:r>
            <a:r>
              <a:rPr lang="en-US" sz="1600" dirty="0" err="1"/>
              <a:t>FarmBot</a:t>
            </a:r>
            <a:r>
              <a:rPr lang="en-US" sz="1600" dirty="0"/>
              <a:t> and </a:t>
            </a:r>
            <a:r>
              <a:rPr lang="en-US" sz="1600" dirty="0" err="1"/>
              <a:t>OpenAg</a:t>
            </a:r>
            <a:r>
              <a:rPr lang="en-US" sz="1600" dirty="0"/>
              <a:t> Initiative).</a:t>
            </a:r>
          </a:p>
        </p:txBody>
      </p:sp>
      <p:sp>
        <p:nvSpPr>
          <p:cNvPr id="394" name="Google Shape;394;p35"/>
          <p:cNvSpPr txBox="1">
            <a:spLocks noGrp="1"/>
          </p:cNvSpPr>
          <p:nvPr>
            <p:ph type="title" idx="2"/>
          </p:nvPr>
        </p:nvSpPr>
        <p:spPr>
          <a:xfrm>
            <a:off x="871005" y="1632352"/>
            <a:ext cx="3207836" cy="54419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dirty="0"/>
              <a:t>Existing Systems</a:t>
            </a:r>
          </a:p>
        </p:txBody>
      </p:sp>
      <p:pic>
        <p:nvPicPr>
          <p:cNvPr id="14" name="Picture 13" descr="A black and white drawing of a stack of books&#10;&#10;Description automatically generated">
            <a:extLst>
              <a:ext uri="{FF2B5EF4-FFF2-40B4-BE49-F238E27FC236}">
                <a16:creationId xmlns:a16="http://schemas.microsoft.com/office/drawing/2014/main" id="{40C8D5E3-1198-E6E6-E272-13C3FA563415}"/>
              </a:ext>
            </a:extLst>
          </p:cNvPr>
          <p:cNvPicPr>
            <a:picLocks noChangeAspect="1"/>
          </p:cNvPicPr>
          <p:nvPr/>
        </p:nvPicPr>
        <p:blipFill rotWithShape="1">
          <a:blip r:embed="rId3"/>
          <a:srcRect t="14294" b="19633"/>
          <a:stretch/>
        </p:blipFill>
        <p:spPr>
          <a:xfrm>
            <a:off x="5291191" y="1816543"/>
            <a:ext cx="3132809" cy="20699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5"/>
          <p:cNvSpPr txBox="1">
            <a:spLocks noGrp="1"/>
          </p:cNvSpPr>
          <p:nvPr>
            <p:ph type="title" idx="6"/>
          </p:nvPr>
        </p:nvSpPr>
        <p:spPr>
          <a:xfrm>
            <a:off x="720000" y="465572"/>
            <a:ext cx="7704000" cy="87006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solidFill>
                  <a:schemeClr val="tx1"/>
                </a:solidFill>
                <a:effectLst/>
                <a:latin typeface="Inter Tight" panose="020B0604020202020204" charset="0"/>
                <a:ea typeface="Inter Tight" panose="020B0604020202020204" charset="0"/>
                <a:cs typeface="Inter Tight" panose="020B0604020202020204" charset="0"/>
              </a:rPr>
              <a:t>Literature Review</a:t>
            </a:r>
            <a:endParaRPr sz="5400" dirty="0">
              <a:solidFill>
                <a:schemeClr val="tx1"/>
              </a:solidFill>
              <a:latin typeface="Inter Tight" panose="020B0604020202020204" charset="0"/>
              <a:ea typeface="Inter Tight" panose="020B0604020202020204" charset="0"/>
              <a:cs typeface="Inter Tight" panose="020B0604020202020204" charset="0"/>
            </a:endParaRPr>
          </a:p>
        </p:txBody>
      </p:sp>
      <p:sp>
        <p:nvSpPr>
          <p:cNvPr id="391" name="Google Shape;391;p35"/>
          <p:cNvSpPr txBox="1">
            <a:spLocks noGrp="1"/>
          </p:cNvSpPr>
          <p:nvPr>
            <p:ph type="subTitle" idx="3"/>
          </p:nvPr>
        </p:nvSpPr>
        <p:spPr>
          <a:xfrm>
            <a:off x="1091042" y="2217641"/>
            <a:ext cx="4117956" cy="211929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Clr>
                <a:schemeClr val="dk1"/>
              </a:buClr>
              <a:buSzPts val="1100"/>
              <a:buFont typeface="+mj-lt"/>
              <a:buAutoNum type="romanUcPeriod"/>
            </a:pPr>
            <a:r>
              <a:rPr lang="en-US" sz="1600" dirty="0"/>
              <a:t>Integrated system combining weeding, autonomous navigation, and plant monitoring</a:t>
            </a:r>
          </a:p>
          <a:p>
            <a:pPr marL="285750" lvl="0" indent="-285750" algn="l" rtl="0">
              <a:spcBef>
                <a:spcPts val="0"/>
              </a:spcBef>
              <a:spcAft>
                <a:spcPts val="0"/>
              </a:spcAft>
              <a:buClr>
                <a:schemeClr val="dk1"/>
              </a:buClr>
              <a:buSzPts val="1100"/>
              <a:buFont typeface="+mj-lt"/>
              <a:buAutoNum type="romanUcPeriod"/>
            </a:pPr>
            <a:r>
              <a:rPr lang="en-US" sz="1600" dirty="0"/>
              <a:t>Use of solar power for sustainability</a:t>
            </a:r>
          </a:p>
          <a:p>
            <a:pPr marL="285750" lvl="0" indent="-285750" algn="l" rtl="0">
              <a:spcBef>
                <a:spcPts val="0"/>
              </a:spcBef>
              <a:spcAft>
                <a:spcPts val="0"/>
              </a:spcAft>
              <a:buClr>
                <a:schemeClr val="dk1"/>
              </a:buClr>
              <a:buSzPts val="1100"/>
              <a:buFont typeface="+mj-lt"/>
              <a:buAutoNum type="romanUcPeriod"/>
            </a:pPr>
            <a:r>
              <a:rPr lang="en-US" sz="1600" dirty="0"/>
              <a:t>Variable size and waterproof design for different agricultural environments</a:t>
            </a:r>
          </a:p>
        </p:txBody>
      </p:sp>
      <p:sp>
        <p:nvSpPr>
          <p:cNvPr id="394" name="Google Shape;394;p35"/>
          <p:cNvSpPr txBox="1">
            <a:spLocks noGrp="1"/>
          </p:cNvSpPr>
          <p:nvPr>
            <p:ph type="title" idx="2"/>
          </p:nvPr>
        </p:nvSpPr>
        <p:spPr>
          <a:xfrm>
            <a:off x="871004" y="1632352"/>
            <a:ext cx="4892797" cy="54419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dirty="0"/>
              <a:t>Novelty in Our Project</a:t>
            </a:r>
          </a:p>
        </p:txBody>
      </p:sp>
      <p:pic>
        <p:nvPicPr>
          <p:cNvPr id="14" name="Picture 13" descr="A black and white drawing of a stack of books&#10;&#10;Description automatically generated">
            <a:extLst>
              <a:ext uri="{FF2B5EF4-FFF2-40B4-BE49-F238E27FC236}">
                <a16:creationId xmlns:a16="http://schemas.microsoft.com/office/drawing/2014/main" id="{40C8D5E3-1198-E6E6-E272-13C3FA563415}"/>
              </a:ext>
            </a:extLst>
          </p:cNvPr>
          <p:cNvPicPr>
            <a:picLocks noChangeAspect="1"/>
          </p:cNvPicPr>
          <p:nvPr/>
        </p:nvPicPr>
        <p:blipFill rotWithShape="1">
          <a:blip r:embed="rId3"/>
          <a:srcRect t="14294" b="19633"/>
          <a:stretch/>
        </p:blipFill>
        <p:spPr>
          <a:xfrm>
            <a:off x="5291191" y="1816543"/>
            <a:ext cx="3132809" cy="2069955"/>
          </a:xfrm>
          <a:prstGeom prst="rect">
            <a:avLst/>
          </a:prstGeom>
        </p:spPr>
      </p:pic>
    </p:spTree>
    <p:extLst>
      <p:ext uri="{BB962C8B-B14F-4D97-AF65-F5344CB8AC3E}">
        <p14:creationId xmlns:p14="http://schemas.microsoft.com/office/powerpoint/2010/main" val="412080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5"/>
          <p:cNvSpPr txBox="1">
            <a:spLocks noGrp="1"/>
          </p:cNvSpPr>
          <p:nvPr>
            <p:ph type="title" idx="6"/>
          </p:nvPr>
        </p:nvSpPr>
        <p:spPr>
          <a:xfrm>
            <a:off x="720000" y="465572"/>
            <a:ext cx="7704000" cy="87006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solidFill>
                  <a:schemeClr val="tx1"/>
                </a:solidFill>
                <a:effectLst/>
                <a:latin typeface="Inter Tight" panose="020B0604020202020204" charset="0"/>
                <a:ea typeface="Inter Tight" panose="020B0604020202020204" charset="0"/>
                <a:cs typeface="Inter Tight" panose="020B0604020202020204" charset="0"/>
              </a:rPr>
              <a:t>Literature Review</a:t>
            </a:r>
            <a:endParaRPr sz="5400" dirty="0">
              <a:solidFill>
                <a:schemeClr val="tx1"/>
              </a:solidFill>
              <a:latin typeface="Inter Tight" panose="020B0604020202020204" charset="0"/>
              <a:ea typeface="Inter Tight" panose="020B0604020202020204" charset="0"/>
              <a:cs typeface="Inter Tight" panose="020B0604020202020204" charset="0"/>
            </a:endParaRPr>
          </a:p>
        </p:txBody>
      </p:sp>
      <p:graphicFrame>
        <p:nvGraphicFramePr>
          <p:cNvPr id="6" name="Table 5">
            <a:extLst>
              <a:ext uri="{FF2B5EF4-FFF2-40B4-BE49-F238E27FC236}">
                <a16:creationId xmlns:a16="http://schemas.microsoft.com/office/drawing/2014/main" id="{10DB1E61-8198-D90B-5205-F66E2367A6E0}"/>
              </a:ext>
            </a:extLst>
          </p:cNvPr>
          <p:cNvGraphicFramePr>
            <a:graphicFrameLocks noGrp="1"/>
          </p:cNvGraphicFramePr>
          <p:nvPr>
            <p:extLst>
              <p:ext uri="{D42A27DB-BD31-4B8C-83A1-F6EECF244321}">
                <p14:modId xmlns:p14="http://schemas.microsoft.com/office/powerpoint/2010/main" val="735033561"/>
              </p:ext>
            </p:extLst>
          </p:nvPr>
        </p:nvGraphicFramePr>
        <p:xfrm>
          <a:off x="720000" y="1193269"/>
          <a:ext cx="7704000" cy="3484659"/>
        </p:xfrm>
        <a:graphic>
          <a:graphicData uri="http://schemas.openxmlformats.org/drawingml/2006/table">
            <a:tbl>
              <a:tblPr firstRow="1" bandRow="1">
                <a:tableStyleId>{C5ABD91F-86C4-4EDB-9EB6-E28549BB48EA}</a:tableStyleId>
              </a:tblPr>
              <a:tblGrid>
                <a:gridCol w="1215480">
                  <a:extLst>
                    <a:ext uri="{9D8B030D-6E8A-4147-A177-3AD203B41FA5}">
                      <a16:colId xmlns:a16="http://schemas.microsoft.com/office/drawing/2014/main" val="3885727183"/>
                    </a:ext>
                  </a:extLst>
                </a:gridCol>
                <a:gridCol w="1196340">
                  <a:extLst>
                    <a:ext uri="{9D8B030D-6E8A-4147-A177-3AD203B41FA5}">
                      <a16:colId xmlns:a16="http://schemas.microsoft.com/office/drawing/2014/main" val="3178252366"/>
                    </a:ext>
                  </a:extLst>
                </a:gridCol>
                <a:gridCol w="3169920">
                  <a:extLst>
                    <a:ext uri="{9D8B030D-6E8A-4147-A177-3AD203B41FA5}">
                      <a16:colId xmlns:a16="http://schemas.microsoft.com/office/drawing/2014/main" val="3658355965"/>
                    </a:ext>
                  </a:extLst>
                </a:gridCol>
                <a:gridCol w="2122260">
                  <a:extLst>
                    <a:ext uri="{9D8B030D-6E8A-4147-A177-3AD203B41FA5}">
                      <a16:colId xmlns:a16="http://schemas.microsoft.com/office/drawing/2014/main" val="4074576174"/>
                    </a:ext>
                  </a:extLst>
                </a:gridCol>
              </a:tblGrid>
              <a:tr h="878619">
                <a:tc>
                  <a:txBody>
                    <a:bodyPr/>
                    <a:lstStyle/>
                    <a:p>
                      <a:r>
                        <a:rPr lang="en-US" sz="1400" b="1" dirty="0"/>
                        <a:t>Research Paper</a:t>
                      </a:r>
                    </a:p>
                  </a:txBody>
                  <a:tcPr/>
                </a:tc>
                <a:tc>
                  <a:txBody>
                    <a:bodyPr/>
                    <a:lstStyle/>
                    <a:p>
                      <a:r>
                        <a:rPr lang="en-US" sz="1400" b="1" dirty="0"/>
                        <a:t>Authors</a:t>
                      </a:r>
                    </a:p>
                  </a:txBody>
                  <a:tcPr/>
                </a:tc>
                <a:tc>
                  <a:txBody>
                    <a:bodyPr/>
                    <a:lstStyle/>
                    <a:p>
                      <a:r>
                        <a:rPr lang="en-US" sz="1400" b="1" dirty="0"/>
                        <a:t>Literature Review</a:t>
                      </a:r>
                    </a:p>
                  </a:txBody>
                  <a:tcPr/>
                </a:tc>
                <a:tc>
                  <a:txBody>
                    <a:bodyPr/>
                    <a:lstStyle/>
                    <a:p>
                      <a:r>
                        <a:rPr lang="en-US" sz="1400" b="1" dirty="0"/>
                        <a:t>Helpful insights for our FYP</a:t>
                      </a:r>
                    </a:p>
                  </a:txBody>
                  <a:tcPr/>
                </a:tc>
                <a:extLst>
                  <a:ext uri="{0D108BD9-81ED-4DB2-BD59-A6C34878D82A}">
                    <a16:rowId xmlns:a16="http://schemas.microsoft.com/office/drawing/2014/main" val="1686695889"/>
                  </a:ext>
                </a:extLst>
              </a:tr>
              <a:tr h="1860606">
                <a:tc>
                  <a:txBody>
                    <a:bodyPr/>
                    <a:lstStyle/>
                    <a:p>
                      <a:r>
                        <a:rPr lang="en-US" sz="1100" b="0" i="0" u="none" strike="noStrike" cap="none" dirty="0">
                          <a:solidFill>
                            <a:srgbClr val="000000"/>
                          </a:solidFill>
                          <a:effectLst/>
                          <a:latin typeface="Arial"/>
                          <a:ea typeface="Arial"/>
                          <a:cs typeface="Arial"/>
                          <a:sym typeface="Arial"/>
                        </a:rPr>
                        <a:t>RVDR-YOLOv8: A Weed Target Detection Model Based on Improved YOLOv8</a:t>
                      </a:r>
                      <a:endParaRPr lang="en-US" sz="1100" dirty="0"/>
                    </a:p>
                  </a:txBody>
                  <a:tcPr/>
                </a:tc>
                <a:tc>
                  <a:txBody>
                    <a:bodyPr/>
                    <a:lstStyle/>
                    <a:p>
                      <a:r>
                        <a:rPr lang="en-US" sz="1100" b="0" i="0" u="none" strike="noStrike" cap="none" dirty="0" err="1">
                          <a:solidFill>
                            <a:srgbClr val="000000"/>
                          </a:solidFill>
                          <a:effectLst/>
                          <a:latin typeface="Arial"/>
                          <a:ea typeface="Arial"/>
                          <a:cs typeface="Arial"/>
                          <a:sym typeface="Arial"/>
                        </a:rPr>
                        <a:t>Yuanming</a:t>
                      </a:r>
                      <a:r>
                        <a:rPr lang="en-US" sz="1100" b="0" i="0" u="none" strike="noStrike" cap="none" dirty="0">
                          <a:solidFill>
                            <a:srgbClr val="000000"/>
                          </a:solidFill>
                          <a:effectLst/>
                          <a:latin typeface="Arial"/>
                          <a:ea typeface="Arial"/>
                          <a:cs typeface="Arial"/>
                          <a:sym typeface="Arial"/>
                        </a:rPr>
                        <a:t> Ding, Chen Jiang, </a:t>
                      </a:r>
                    </a:p>
                    <a:p>
                      <a:r>
                        <a:rPr lang="en-US" sz="1100" b="0" i="0" u="none" strike="noStrike" cap="none" dirty="0">
                          <a:solidFill>
                            <a:srgbClr val="000000"/>
                          </a:solidFill>
                          <a:effectLst/>
                          <a:latin typeface="Arial"/>
                          <a:ea typeface="Arial"/>
                          <a:cs typeface="Arial"/>
                          <a:sym typeface="Arial"/>
                        </a:rPr>
                        <a:t>Lin Song,</a:t>
                      </a:r>
                    </a:p>
                    <a:p>
                      <a:r>
                        <a:rPr lang="en-US" sz="1100" b="0" i="0" u="none" strike="noStrike" cap="none" dirty="0">
                          <a:solidFill>
                            <a:srgbClr val="000000"/>
                          </a:solidFill>
                          <a:effectLst/>
                          <a:latin typeface="Arial"/>
                          <a:ea typeface="Arial"/>
                          <a:cs typeface="Arial"/>
                          <a:sym typeface="Arial"/>
                        </a:rPr>
                        <a:t> Fei Liu,</a:t>
                      </a:r>
                    </a:p>
                    <a:p>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Yunrui</a:t>
                      </a:r>
                      <a:r>
                        <a:rPr lang="en-US" sz="1100" b="0" i="0" u="none" strike="noStrike" cap="none" dirty="0">
                          <a:solidFill>
                            <a:srgbClr val="000000"/>
                          </a:solidFill>
                          <a:effectLst/>
                          <a:latin typeface="Arial"/>
                          <a:ea typeface="Arial"/>
                          <a:cs typeface="Arial"/>
                          <a:sym typeface="Arial"/>
                        </a:rPr>
                        <a:t> Tao</a:t>
                      </a:r>
                      <a:endParaRPr lang="en-US" sz="1100" dirty="0"/>
                    </a:p>
                  </a:txBody>
                  <a:tcPr/>
                </a:tc>
                <a:tc>
                  <a:txBody>
                    <a:bodyPr/>
                    <a:lstStyle/>
                    <a:p>
                      <a:r>
                        <a:rPr lang="en-US" sz="1100" b="0" i="0" u="none" strike="noStrike" cap="none" dirty="0">
                          <a:solidFill>
                            <a:srgbClr val="000000"/>
                          </a:solidFill>
                          <a:effectLst/>
                          <a:latin typeface="Arial"/>
                          <a:ea typeface="Arial"/>
                          <a:cs typeface="Arial"/>
                          <a:sym typeface="Arial"/>
                        </a:rPr>
                        <a:t>The authors solve the problem of extensive computational demands in YOLO models by using the RVDR-YOLOv8 model, which incorporates several key improvements. These include the </a:t>
                      </a:r>
                      <a:r>
                        <a:rPr lang="en-US" sz="1100" b="0" i="0" u="none" strike="noStrike" cap="none" dirty="0" err="1">
                          <a:solidFill>
                            <a:srgbClr val="000000"/>
                          </a:solidFill>
                          <a:effectLst/>
                          <a:latin typeface="Arial"/>
                          <a:ea typeface="Arial"/>
                          <a:cs typeface="Arial"/>
                          <a:sym typeface="Arial"/>
                        </a:rPr>
                        <a:t>RevCol</a:t>
                      </a:r>
                      <a:r>
                        <a:rPr lang="en-US" sz="1100" b="0" i="0" u="none" strike="noStrike" cap="none" dirty="0">
                          <a:solidFill>
                            <a:srgbClr val="000000"/>
                          </a:solidFill>
                          <a:effectLst/>
                          <a:latin typeface="Arial"/>
                          <a:ea typeface="Arial"/>
                          <a:cs typeface="Arial"/>
                          <a:sym typeface="Arial"/>
                        </a:rPr>
                        <a:t> (Reversible Column Networks) for reducing computational complexity, the C2fDWR module for enhancing detection accuracy, and the </a:t>
                      </a:r>
                      <a:r>
                        <a:rPr lang="en-US" sz="1100" b="0" i="0" u="none" strike="noStrike" cap="none" dirty="0" err="1">
                          <a:solidFill>
                            <a:srgbClr val="000000"/>
                          </a:solidFill>
                          <a:effectLst/>
                          <a:latin typeface="Arial"/>
                          <a:ea typeface="Arial"/>
                          <a:cs typeface="Arial"/>
                          <a:sym typeface="Arial"/>
                        </a:rPr>
                        <a:t>GSConv</a:t>
                      </a:r>
                      <a:r>
                        <a:rPr lang="en-US" sz="1100" b="0" i="0" u="none" strike="noStrike" cap="none" dirty="0">
                          <a:solidFill>
                            <a:srgbClr val="000000"/>
                          </a:solidFill>
                          <a:effectLst/>
                          <a:latin typeface="Arial"/>
                          <a:ea typeface="Arial"/>
                          <a:cs typeface="Arial"/>
                          <a:sym typeface="Arial"/>
                        </a:rPr>
                        <a:t> module for lightweight convolution. Additionally, the </a:t>
                      </a:r>
                      <a:r>
                        <a:rPr lang="en-US" sz="1100" b="0" i="0" u="none" strike="noStrike" cap="none" dirty="0" err="1">
                          <a:solidFill>
                            <a:srgbClr val="000000"/>
                          </a:solidFill>
                          <a:effectLst/>
                          <a:latin typeface="Arial"/>
                          <a:ea typeface="Arial"/>
                          <a:cs typeface="Arial"/>
                          <a:sym typeface="Arial"/>
                        </a:rPr>
                        <a:t>InnerMPDIoU</a:t>
                      </a:r>
                      <a:r>
                        <a:rPr lang="en-US" sz="1100" b="0" i="0" u="none" strike="noStrike" cap="none" dirty="0">
                          <a:solidFill>
                            <a:srgbClr val="000000"/>
                          </a:solidFill>
                          <a:effectLst/>
                          <a:latin typeface="Arial"/>
                          <a:ea typeface="Arial"/>
                          <a:cs typeface="Arial"/>
                          <a:sym typeface="Arial"/>
                        </a:rPr>
                        <a:t> loss function is introduced to improve bounding box regression accuracy. These innovations make the model smaller and more efficient, allowing it to perform accurate, real-time weed detection on robots with limited computational and storage resources.</a:t>
                      </a:r>
                      <a:endParaRPr lang="en-US" sz="1100" dirty="0"/>
                    </a:p>
                  </a:txBody>
                  <a:tcPr/>
                </a:tc>
                <a:tc>
                  <a:txBody>
                    <a:bodyPr/>
                    <a:lstStyle/>
                    <a:p>
                      <a:r>
                        <a:rPr lang="en-US" sz="1100" b="0" i="0" u="none" strike="noStrike" cap="none" dirty="0">
                          <a:solidFill>
                            <a:srgbClr val="000000"/>
                          </a:solidFill>
                          <a:effectLst/>
                          <a:latin typeface="Arial"/>
                          <a:ea typeface="Arial"/>
                          <a:cs typeface="Arial"/>
                          <a:sym typeface="Arial"/>
                        </a:rPr>
                        <a:t>The RVDR-YOLOv8 model's reduced computational complexity and improved detection accuracy make it ideal for our weeding robot, enabling efficient, real-time weed identification within our hardware constraints.</a:t>
                      </a:r>
                      <a:endParaRPr lang="en-US" sz="1100" dirty="0"/>
                    </a:p>
                  </a:txBody>
                  <a:tcPr/>
                </a:tc>
                <a:extLst>
                  <a:ext uri="{0D108BD9-81ED-4DB2-BD59-A6C34878D82A}">
                    <a16:rowId xmlns:a16="http://schemas.microsoft.com/office/drawing/2014/main" val="2264711402"/>
                  </a:ext>
                </a:extLst>
              </a:tr>
            </a:tbl>
          </a:graphicData>
        </a:graphic>
      </p:graphicFrame>
    </p:spTree>
    <p:extLst>
      <p:ext uri="{BB962C8B-B14F-4D97-AF65-F5344CB8AC3E}">
        <p14:creationId xmlns:p14="http://schemas.microsoft.com/office/powerpoint/2010/main" val="1477753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5"/>
          <p:cNvSpPr txBox="1">
            <a:spLocks noGrp="1"/>
          </p:cNvSpPr>
          <p:nvPr>
            <p:ph type="title" idx="6"/>
          </p:nvPr>
        </p:nvSpPr>
        <p:spPr>
          <a:xfrm>
            <a:off x="720000" y="465572"/>
            <a:ext cx="7704000" cy="87006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solidFill>
                  <a:schemeClr val="tx1"/>
                </a:solidFill>
                <a:effectLst/>
                <a:latin typeface="Inter Tight" panose="020B0604020202020204" charset="0"/>
                <a:ea typeface="Inter Tight" panose="020B0604020202020204" charset="0"/>
                <a:cs typeface="Inter Tight" panose="020B0604020202020204" charset="0"/>
              </a:rPr>
              <a:t>Literature Review</a:t>
            </a:r>
            <a:endParaRPr sz="5400" dirty="0">
              <a:solidFill>
                <a:schemeClr val="tx1"/>
              </a:solidFill>
              <a:latin typeface="Inter Tight" panose="020B0604020202020204" charset="0"/>
              <a:ea typeface="Inter Tight" panose="020B0604020202020204" charset="0"/>
              <a:cs typeface="Inter Tight" panose="020B0604020202020204" charset="0"/>
            </a:endParaRPr>
          </a:p>
        </p:txBody>
      </p:sp>
      <p:graphicFrame>
        <p:nvGraphicFramePr>
          <p:cNvPr id="6" name="Table 5">
            <a:extLst>
              <a:ext uri="{FF2B5EF4-FFF2-40B4-BE49-F238E27FC236}">
                <a16:creationId xmlns:a16="http://schemas.microsoft.com/office/drawing/2014/main" id="{10DB1E61-8198-D90B-5205-F66E2367A6E0}"/>
              </a:ext>
            </a:extLst>
          </p:cNvPr>
          <p:cNvGraphicFramePr>
            <a:graphicFrameLocks noGrp="1"/>
          </p:cNvGraphicFramePr>
          <p:nvPr>
            <p:extLst>
              <p:ext uri="{D42A27DB-BD31-4B8C-83A1-F6EECF244321}">
                <p14:modId xmlns:p14="http://schemas.microsoft.com/office/powerpoint/2010/main" val="1600394565"/>
              </p:ext>
            </p:extLst>
          </p:nvPr>
        </p:nvGraphicFramePr>
        <p:xfrm>
          <a:off x="720000" y="1193269"/>
          <a:ext cx="7704000" cy="2739225"/>
        </p:xfrm>
        <a:graphic>
          <a:graphicData uri="http://schemas.openxmlformats.org/drawingml/2006/table">
            <a:tbl>
              <a:tblPr firstRow="1" bandRow="1">
                <a:tableStyleId>{C5ABD91F-86C4-4EDB-9EB6-E28549BB48EA}</a:tableStyleId>
              </a:tblPr>
              <a:tblGrid>
                <a:gridCol w="1215480">
                  <a:extLst>
                    <a:ext uri="{9D8B030D-6E8A-4147-A177-3AD203B41FA5}">
                      <a16:colId xmlns:a16="http://schemas.microsoft.com/office/drawing/2014/main" val="3885727183"/>
                    </a:ext>
                  </a:extLst>
                </a:gridCol>
                <a:gridCol w="1196340">
                  <a:extLst>
                    <a:ext uri="{9D8B030D-6E8A-4147-A177-3AD203B41FA5}">
                      <a16:colId xmlns:a16="http://schemas.microsoft.com/office/drawing/2014/main" val="3178252366"/>
                    </a:ext>
                  </a:extLst>
                </a:gridCol>
                <a:gridCol w="3169920">
                  <a:extLst>
                    <a:ext uri="{9D8B030D-6E8A-4147-A177-3AD203B41FA5}">
                      <a16:colId xmlns:a16="http://schemas.microsoft.com/office/drawing/2014/main" val="3658355965"/>
                    </a:ext>
                  </a:extLst>
                </a:gridCol>
                <a:gridCol w="2122260">
                  <a:extLst>
                    <a:ext uri="{9D8B030D-6E8A-4147-A177-3AD203B41FA5}">
                      <a16:colId xmlns:a16="http://schemas.microsoft.com/office/drawing/2014/main" val="4074576174"/>
                    </a:ext>
                  </a:extLst>
                </a:gridCol>
              </a:tblGrid>
              <a:tr h="878619">
                <a:tc>
                  <a:txBody>
                    <a:bodyPr/>
                    <a:lstStyle/>
                    <a:p>
                      <a:r>
                        <a:rPr lang="en-US" sz="1400" b="1" dirty="0"/>
                        <a:t>Research Paper</a:t>
                      </a:r>
                    </a:p>
                  </a:txBody>
                  <a:tcPr/>
                </a:tc>
                <a:tc>
                  <a:txBody>
                    <a:bodyPr/>
                    <a:lstStyle/>
                    <a:p>
                      <a:r>
                        <a:rPr lang="en-US" sz="1400" b="1" dirty="0"/>
                        <a:t>Authors</a:t>
                      </a:r>
                    </a:p>
                  </a:txBody>
                  <a:tcPr/>
                </a:tc>
                <a:tc>
                  <a:txBody>
                    <a:bodyPr/>
                    <a:lstStyle/>
                    <a:p>
                      <a:r>
                        <a:rPr lang="en-US" sz="1400" b="1" dirty="0"/>
                        <a:t>Literature Review</a:t>
                      </a:r>
                    </a:p>
                  </a:txBody>
                  <a:tcPr/>
                </a:tc>
                <a:tc>
                  <a:txBody>
                    <a:bodyPr/>
                    <a:lstStyle/>
                    <a:p>
                      <a:r>
                        <a:rPr lang="en-US" sz="1400" b="1" dirty="0"/>
                        <a:t>Helpful insights for our FYP</a:t>
                      </a:r>
                    </a:p>
                  </a:txBody>
                  <a:tcPr/>
                </a:tc>
                <a:extLst>
                  <a:ext uri="{0D108BD9-81ED-4DB2-BD59-A6C34878D82A}">
                    <a16:rowId xmlns:a16="http://schemas.microsoft.com/office/drawing/2014/main" val="1686695889"/>
                  </a:ext>
                </a:extLst>
              </a:tr>
              <a:tr h="1860606">
                <a:tc>
                  <a:txBody>
                    <a:bodyPr/>
                    <a:lstStyle/>
                    <a:p>
                      <a:r>
                        <a:rPr lang="en-US" sz="1100" b="0" i="0" u="none" strike="noStrike" cap="none" dirty="0">
                          <a:solidFill>
                            <a:srgbClr val="000000"/>
                          </a:solidFill>
                          <a:effectLst/>
                          <a:latin typeface="Arial"/>
                          <a:ea typeface="Arial"/>
                          <a:cs typeface="Arial"/>
                          <a:sym typeface="Arial"/>
                        </a:rPr>
                        <a:t>An Improved YOLOv8 to Detect Moving Objects</a:t>
                      </a:r>
                      <a:endParaRPr lang="en-US" sz="1100" dirty="0"/>
                    </a:p>
                  </a:txBody>
                  <a:tcPr/>
                </a:tc>
                <a:tc>
                  <a:txBody>
                    <a:bodyPr/>
                    <a:lstStyle/>
                    <a:p>
                      <a:r>
                        <a:rPr lang="en-US" sz="1100" dirty="0" err="1"/>
                        <a:t>Mukaram</a:t>
                      </a:r>
                      <a:r>
                        <a:rPr lang="en-US" sz="1100" dirty="0"/>
                        <a:t> </a:t>
                      </a:r>
                      <a:r>
                        <a:rPr lang="en-US" sz="1100" dirty="0" err="1"/>
                        <a:t>Safaldin</a:t>
                      </a:r>
                      <a:r>
                        <a:rPr lang="en-US" sz="1100" dirty="0"/>
                        <a:t>, </a:t>
                      </a:r>
                    </a:p>
                    <a:p>
                      <a:r>
                        <a:rPr lang="en-US" sz="1100" dirty="0"/>
                        <a:t>Nizar </a:t>
                      </a:r>
                      <a:r>
                        <a:rPr lang="en-US" sz="1100" dirty="0" err="1"/>
                        <a:t>Zaghden</a:t>
                      </a:r>
                      <a:r>
                        <a:rPr lang="en-US" sz="1100" dirty="0"/>
                        <a:t>, Mahmoud </a:t>
                      </a:r>
                      <a:r>
                        <a:rPr lang="en-US" sz="1100" dirty="0" err="1"/>
                        <a:t>Mejdoub</a:t>
                      </a:r>
                      <a:endParaRPr lang="en-US" sz="1100" dirty="0"/>
                    </a:p>
                  </a:txBody>
                  <a:tcPr/>
                </a:tc>
                <a:tc>
                  <a:txBody>
                    <a:bodyPr/>
                    <a:lstStyle/>
                    <a:p>
                      <a:r>
                        <a:rPr lang="en-US" sz="1100" dirty="0"/>
                        <a:t>The paper presents enhancements to YOLOv8 for detecting moving objects, focusing on improving accuracy for small and dynamic objects in challenging environments. The model incorporates feature fusion, optimized backbone architecture, and advanced data augmentation techniques. Tested on various datasets, it achieved high precision, speed, and accuracy, particularly in real-time applications.</a:t>
                      </a:r>
                    </a:p>
                  </a:txBody>
                  <a:tcPr/>
                </a:tc>
                <a:tc>
                  <a:txBody>
                    <a:bodyPr/>
                    <a:lstStyle/>
                    <a:p>
                      <a:r>
                        <a:rPr lang="en-US" sz="1100" dirty="0"/>
                        <a:t>The improved YOLOv8 can help our weed-detecting robot by enhancing small object detection, making the model more robust in outdoor environments, and allowing for faster real-time weed detection, essential for field robots.</a:t>
                      </a:r>
                    </a:p>
                  </a:txBody>
                  <a:tcPr/>
                </a:tc>
                <a:extLst>
                  <a:ext uri="{0D108BD9-81ED-4DB2-BD59-A6C34878D82A}">
                    <a16:rowId xmlns:a16="http://schemas.microsoft.com/office/drawing/2014/main" val="2264711402"/>
                  </a:ext>
                </a:extLst>
              </a:tr>
            </a:tbl>
          </a:graphicData>
        </a:graphic>
      </p:graphicFrame>
    </p:spTree>
    <p:extLst>
      <p:ext uri="{BB962C8B-B14F-4D97-AF65-F5344CB8AC3E}">
        <p14:creationId xmlns:p14="http://schemas.microsoft.com/office/powerpoint/2010/main" val="3663766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5"/>
          <p:cNvSpPr txBox="1">
            <a:spLocks noGrp="1"/>
          </p:cNvSpPr>
          <p:nvPr>
            <p:ph type="title" idx="6"/>
          </p:nvPr>
        </p:nvSpPr>
        <p:spPr>
          <a:xfrm>
            <a:off x="720000" y="465572"/>
            <a:ext cx="7704000" cy="87006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solidFill>
                  <a:schemeClr val="tx1"/>
                </a:solidFill>
                <a:effectLst/>
                <a:latin typeface="Inter Tight" panose="020B0604020202020204" charset="0"/>
                <a:ea typeface="Inter Tight" panose="020B0604020202020204" charset="0"/>
                <a:cs typeface="Inter Tight" panose="020B0604020202020204" charset="0"/>
              </a:rPr>
              <a:t>Literature Review</a:t>
            </a:r>
            <a:endParaRPr sz="5400" dirty="0">
              <a:solidFill>
                <a:schemeClr val="tx1"/>
              </a:solidFill>
              <a:latin typeface="Inter Tight" panose="020B0604020202020204" charset="0"/>
              <a:ea typeface="Inter Tight" panose="020B0604020202020204" charset="0"/>
              <a:cs typeface="Inter Tight" panose="020B0604020202020204" charset="0"/>
            </a:endParaRPr>
          </a:p>
        </p:txBody>
      </p:sp>
      <p:graphicFrame>
        <p:nvGraphicFramePr>
          <p:cNvPr id="6" name="Table 5">
            <a:extLst>
              <a:ext uri="{FF2B5EF4-FFF2-40B4-BE49-F238E27FC236}">
                <a16:creationId xmlns:a16="http://schemas.microsoft.com/office/drawing/2014/main" id="{10DB1E61-8198-D90B-5205-F66E2367A6E0}"/>
              </a:ext>
            </a:extLst>
          </p:cNvPr>
          <p:cNvGraphicFramePr>
            <a:graphicFrameLocks noGrp="1"/>
          </p:cNvGraphicFramePr>
          <p:nvPr>
            <p:extLst>
              <p:ext uri="{D42A27DB-BD31-4B8C-83A1-F6EECF244321}">
                <p14:modId xmlns:p14="http://schemas.microsoft.com/office/powerpoint/2010/main" val="3277444771"/>
              </p:ext>
            </p:extLst>
          </p:nvPr>
        </p:nvGraphicFramePr>
        <p:xfrm>
          <a:off x="720000" y="1193269"/>
          <a:ext cx="7704000" cy="2814099"/>
        </p:xfrm>
        <a:graphic>
          <a:graphicData uri="http://schemas.openxmlformats.org/drawingml/2006/table">
            <a:tbl>
              <a:tblPr firstRow="1" bandRow="1">
                <a:tableStyleId>{C5ABD91F-86C4-4EDB-9EB6-E28549BB48EA}</a:tableStyleId>
              </a:tblPr>
              <a:tblGrid>
                <a:gridCol w="1215480">
                  <a:extLst>
                    <a:ext uri="{9D8B030D-6E8A-4147-A177-3AD203B41FA5}">
                      <a16:colId xmlns:a16="http://schemas.microsoft.com/office/drawing/2014/main" val="3885727183"/>
                    </a:ext>
                  </a:extLst>
                </a:gridCol>
                <a:gridCol w="1196340">
                  <a:extLst>
                    <a:ext uri="{9D8B030D-6E8A-4147-A177-3AD203B41FA5}">
                      <a16:colId xmlns:a16="http://schemas.microsoft.com/office/drawing/2014/main" val="3178252366"/>
                    </a:ext>
                  </a:extLst>
                </a:gridCol>
                <a:gridCol w="3169920">
                  <a:extLst>
                    <a:ext uri="{9D8B030D-6E8A-4147-A177-3AD203B41FA5}">
                      <a16:colId xmlns:a16="http://schemas.microsoft.com/office/drawing/2014/main" val="3658355965"/>
                    </a:ext>
                  </a:extLst>
                </a:gridCol>
                <a:gridCol w="2122260">
                  <a:extLst>
                    <a:ext uri="{9D8B030D-6E8A-4147-A177-3AD203B41FA5}">
                      <a16:colId xmlns:a16="http://schemas.microsoft.com/office/drawing/2014/main" val="4074576174"/>
                    </a:ext>
                  </a:extLst>
                </a:gridCol>
              </a:tblGrid>
              <a:tr h="878619">
                <a:tc>
                  <a:txBody>
                    <a:bodyPr/>
                    <a:lstStyle/>
                    <a:p>
                      <a:r>
                        <a:rPr lang="en-US" sz="1400" b="1" dirty="0"/>
                        <a:t>Research Paper</a:t>
                      </a:r>
                    </a:p>
                  </a:txBody>
                  <a:tcPr/>
                </a:tc>
                <a:tc>
                  <a:txBody>
                    <a:bodyPr/>
                    <a:lstStyle/>
                    <a:p>
                      <a:r>
                        <a:rPr lang="en-US" sz="1400" b="1" dirty="0"/>
                        <a:t>Authors</a:t>
                      </a:r>
                    </a:p>
                  </a:txBody>
                  <a:tcPr/>
                </a:tc>
                <a:tc>
                  <a:txBody>
                    <a:bodyPr/>
                    <a:lstStyle/>
                    <a:p>
                      <a:r>
                        <a:rPr lang="en-US" sz="1400" b="1" dirty="0"/>
                        <a:t>Literature Review</a:t>
                      </a:r>
                    </a:p>
                  </a:txBody>
                  <a:tcPr/>
                </a:tc>
                <a:tc>
                  <a:txBody>
                    <a:bodyPr/>
                    <a:lstStyle/>
                    <a:p>
                      <a:r>
                        <a:rPr lang="en-US" sz="1400" b="1" dirty="0"/>
                        <a:t>Helpful insights for our FYP</a:t>
                      </a:r>
                    </a:p>
                  </a:txBody>
                  <a:tcPr/>
                </a:tc>
                <a:extLst>
                  <a:ext uri="{0D108BD9-81ED-4DB2-BD59-A6C34878D82A}">
                    <a16:rowId xmlns:a16="http://schemas.microsoft.com/office/drawing/2014/main" val="1686695889"/>
                  </a:ext>
                </a:extLst>
              </a:tr>
              <a:tr h="1860606">
                <a:tc>
                  <a:txBody>
                    <a:bodyPr/>
                    <a:lstStyle/>
                    <a:p>
                      <a:r>
                        <a:rPr lang="en-US" sz="1100" dirty="0"/>
                        <a:t>Vision Based Guidance for Robot Navigation in Agriculture</a:t>
                      </a:r>
                    </a:p>
                  </a:txBody>
                  <a:tcPr/>
                </a:tc>
                <a:tc>
                  <a:txBody>
                    <a:bodyPr/>
                    <a:lstStyle/>
                    <a:p>
                      <a:r>
                        <a:rPr lang="en-US" sz="1100" dirty="0"/>
                        <a:t>Andrew English, Patrick Ross, David Ball, Peter </a:t>
                      </a:r>
                      <a:r>
                        <a:rPr lang="en-US" sz="1100" dirty="0" err="1"/>
                        <a:t>Corke</a:t>
                      </a:r>
                      <a:endParaRPr lang="en-US" sz="1100" dirty="0"/>
                    </a:p>
                  </a:txBody>
                  <a:tcPr/>
                </a:tc>
                <a:tc>
                  <a:txBody>
                    <a:bodyPr/>
                    <a:lstStyle/>
                    <a:p>
                      <a:r>
                        <a:rPr lang="en-US" sz="1100" dirty="0"/>
                        <a:t>This paper introduces a monocular vision-based method to guide autonomous agricultural robots along crop rows, especially in fields with challenging visual conditions. The method tracks the dominant parallel texture in the scene without requiring explicit segmentation of plants and soil. The system performs well both day and night, across different crop types and environments, ensuring reliable robot guidance along crop rows.</a:t>
                      </a:r>
                    </a:p>
                  </a:txBody>
                  <a:tcPr/>
                </a:tc>
                <a:tc>
                  <a:txBody>
                    <a:bodyPr/>
                    <a:lstStyle/>
                    <a:p>
                      <a:r>
                        <a:rPr lang="en-US" sz="1100" dirty="0"/>
                        <a:t>The method's ability to guide robots in visually complex agricultural fields makes it highly applicable to our weed-detecting robot. It ensures reliable navigation without the need for color-based segmentation, which is valuable in scenarios where weeds and crops have similar visual characteristics.</a:t>
                      </a:r>
                    </a:p>
                  </a:txBody>
                  <a:tcPr/>
                </a:tc>
                <a:extLst>
                  <a:ext uri="{0D108BD9-81ED-4DB2-BD59-A6C34878D82A}">
                    <a16:rowId xmlns:a16="http://schemas.microsoft.com/office/drawing/2014/main" val="2264711402"/>
                  </a:ext>
                </a:extLst>
              </a:tr>
            </a:tbl>
          </a:graphicData>
        </a:graphic>
      </p:graphicFrame>
    </p:spTree>
    <p:extLst>
      <p:ext uri="{BB962C8B-B14F-4D97-AF65-F5344CB8AC3E}">
        <p14:creationId xmlns:p14="http://schemas.microsoft.com/office/powerpoint/2010/main" val="107765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5"/>
          <p:cNvSpPr txBox="1">
            <a:spLocks noGrp="1"/>
          </p:cNvSpPr>
          <p:nvPr>
            <p:ph type="title" idx="6"/>
          </p:nvPr>
        </p:nvSpPr>
        <p:spPr>
          <a:xfrm>
            <a:off x="720000" y="465572"/>
            <a:ext cx="7704000" cy="87006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solidFill>
                  <a:schemeClr val="tx1"/>
                </a:solidFill>
                <a:effectLst/>
                <a:latin typeface="Inter Tight" panose="020B0604020202020204" charset="0"/>
                <a:ea typeface="Inter Tight" panose="020B0604020202020204" charset="0"/>
                <a:cs typeface="Inter Tight" panose="020B0604020202020204" charset="0"/>
              </a:rPr>
              <a:t>Literature Review</a:t>
            </a:r>
            <a:endParaRPr sz="5400" dirty="0">
              <a:solidFill>
                <a:schemeClr val="tx1"/>
              </a:solidFill>
              <a:latin typeface="Inter Tight" panose="020B0604020202020204" charset="0"/>
              <a:ea typeface="Inter Tight" panose="020B0604020202020204" charset="0"/>
              <a:cs typeface="Inter Tight" panose="020B0604020202020204" charset="0"/>
            </a:endParaRPr>
          </a:p>
        </p:txBody>
      </p:sp>
      <p:graphicFrame>
        <p:nvGraphicFramePr>
          <p:cNvPr id="6" name="Table 5">
            <a:extLst>
              <a:ext uri="{FF2B5EF4-FFF2-40B4-BE49-F238E27FC236}">
                <a16:creationId xmlns:a16="http://schemas.microsoft.com/office/drawing/2014/main" id="{10DB1E61-8198-D90B-5205-F66E2367A6E0}"/>
              </a:ext>
            </a:extLst>
          </p:cNvPr>
          <p:cNvGraphicFramePr>
            <a:graphicFrameLocks noGrp="1"/>
          </p:cNvGraphicFramePr>
          <p:nvPr>
            <p:extLst>
              <p:ext uri="{D42A27DB-BD31-4B8C-83A1-F6EECF244321}">
                <p14:modId xmlns:p14="http://schemas.microsoft.com/office/powerpoint/2010/main" val="827637634"/>
              </p:ext>
            </p:extLst>
          </p:nvPr>
        </p:nvGraphicFramePr>
        <p:xfrm>
          <a:off x="720000" y="1193269"/>
          <a:ext cx="7704000" cy="2814099"/>
        </p:xfrm>
        <a:graphic>
          <a:graphicData uri="http://schemas.openxmlformats.org/drawingml/2006/table">
            <a:tbl>
              <a:tblPr firstRow="1" bandRow="1">
                <a:tableStyleId>{C5ABD91F-86C4-4EDB-9EB6-E28549BB48EA}</a:tableStyleId>
              </a:tblPr>
              <a:tblGrid>
                <a:gridCol w="1215480">
                  <a:extLst>
                    <a:ext uri="{9D8B030D-6E8A-4147-A177-3AD203B41FA5}">
                      <a16:colId xmlns:a16="http://schemas.microsoft.com/office/drawing/2014/main" val="3885727183"/>
                    </a:ext>
                  </a:extLst>
                </a:gridCol>
                <a:gridCol w="1196340">
                  <a:extLst>
                    <a:ext uri="{9D8B030D-6E8A-4147-A177-3AD203B41FA5}">
                      <a16:colId xmlns:a16="http://schemas.microsoft.com/office/drawing/2014/main" val="3178252366"/>
                    </a:ext>
                  </a:extLst>
                </a:gridCol>
                <a:gridCol w="3169920">
                  <a:extLst>
                    <a:ext uri="{9D8B030D-6E8A-4147-A177-3AD203B41FA5}">
                      <a16:colId xmlns:a16="http://schemas.microsoft.com/office/drawing/2014/main" val="3658355965"/>
                    </a:ext>
                  </a:extLst>
                </a:gridCol>
                <a:gridCol w="2122260">
                  <a:extLst>
                    <a:ext uri="{9D8B030D-6E8A-4147-A177-3AD203B41FA5}">
                      <a16:colId xmlns:a16="http://schemas.microsoft.com/office/drawing/2014/main" val="4074576174"/>
                    </a:ext>
                  </a:extLst>
                </a:gridCol>
              </a:tblGrid>
              <a:tr h="878619">
                <a:tc>
                  <a:txBody>
                    <a:bodyPr/>
                    <a:lstStyle/>
                    <a:p>
                      <a:r>
                        <a:rPr lang="en-US" sz="1400" b="1" dirty="0"/>
                        <a:t>Research Paper</a:t>
                      </a:r>
                    </a:p>
                  </a:txBody>
                  <a:tcPr/>
                </a:tc>
                <a:tc>
                  <a:txBody>
                    <a:bodyPr/>
                    <a:lstStyle/>
                    <a:p>
                      <a:r>
                        <a:rPr lang="en-US" sz="1400" b="1" dirty="0"/>
                        <a:t>Authors</a:t>
                      </a:r>
                    </a:p>
                  </a:txBody>
                  <a:tcPr/>
                </a:tc>
                <a:tc>
                  <a:txBody>
                    <a:bodyPr/>
                    <a:lstStyle/>
                    <a:p>
                      <a:r>
                        <a:rPr lang="en-US" sz="1400" b="1" dirty="0"/>
                        <a:t>Literature Review</a:t>
                      </a:r>
                    </a:p>
                  </a:txBody>
                  <a:tcPr/>
                </a:tc>
                <a:tc>
                  <a:txBody>
                    <a:bodyPr/>
                    <a:lstStyle/>
                    <a:p>
                      <a:r>
                        <a:rPr lang="en-US" sz="1400" b="1" dirty="0"/>
                        <a:t>Helpful insights for our FYP</a:t>
                      </a:r>
                    </a:p>
                  </a:txBody>
                  <a:tcPr/>
                </a:tc>
                <a:extLst>
                  <a:ext uri="{0D108BD9-81ED-4DB2-BD59-A6C34878D82A}">
                    <a16:rowId xmlns:a16="http://schemas.microsoft.com/office/drawing/2014/main" val="1686695889"/>
                  </a:ext>
                </a:extLst>
              </a:tr>
              <a:tr h="1860606">
                <a:tc>
                  <a:txBody>
                    <a:bodyPr/>
                    <a:lstStyle/>
                    <a:p>
                      <a:r>
                        <a:rPr lang="en-US" sz="1100" dirty="0"/>
                        <a:t>Computer Vision Based Robotic Weed Control System for Precision Agriculture</a:t>
                      </a:r>
                    </a:p>
                  </a:txBody>
                  <a:tcPr/>
                </a:tc>
                <a:tc>
                  <a:txBody>
                    <a:bodyPr/>
                    <a:lstStyle/>
                    <a:p>
                      <a:r>
                        <a:rPr lang="en-US" sz="1100" dirty="0"/>
                        <a:t>Megha P. </a:t>
                      </a:r>
                      <a:r>
                        <a:rPr lang="en-US" sz="1100" dirty="0" err="1"/>
                        <a:t>Arakeri</a:t>
                      </a:r>
                      <a:r>
                        <a:rPr lang="en-US" sz="1100" dirty="0"/>
                        <a:t>, </a:t>
                      </a:r>
                    </a:p>
                    <a:p>
                      <a:r>
                        <a:rPr lang="en-US" sz="1100" dirty="0"/>
                        <a:t>Vijaya Kumar B. P., </a:t>
                      </a:r>
                    </a:p>
                    <a:p>
                      <a:r>
                        <a:rPr lang="en-US" sz="1100" dirty="0"/>
                        <a:t>Shubham </a:t>
                      </a:r>
                      <a:r>
                        <a:rPr lang="en-US" sz="1100" dirty="0" err="1"/>
                        <a:t>Barsaiya</a:t>
                      </a:r>
                      <a:r>
                        <a:rPr lang="en-US" sz="1100" dirty="0"/>
                        <a:t>,</a:t>
                      </a:r>
                    </a:p>
                    <a:p>
                      <a:r>
                        <a:rPr lang="en-US" sz="1100" dirty="0"/>
                        <a:t>Sairam H. V</a:t>
                      </a:r>
                    </a:p>
                  </a:txBody>
                  <a:tcPr/>
                </a:tc>
                <a:tc>
                  <a:txBody>
                    <a:bodyPr/>
                    <a:lstStyle/>
                    <a:p>
                      <a:r>
                        <a:rPr lang="en-US" sz="1100" dirty="0"/>
                        <a:t>This paper presents a robotic weed control system for onion crops, using computer vision, machine learning, and IoT technologies to minimize herbicide usage. A camera captures field images, which are processed via a machine learning algorithm to distinguish between crops and weeds. The system then selectively sprays herbicide only on the identified weeds.</a:t>
                      </a:r>
                    </a:p>
                  </a:txBody>
                  <a:tcPr/>
                </a:tc>
                <a:tc>
                  <a:txBody>
                    <a:bodyPr/>
                    <a:lstStyle/>
                    <a:p>
                      <a:r>
                        <a:rPr lang="en-US" sz="1100" dirty="0"/>
                        <a:t>The weed detection approach using image processing and machine learning in this system can be highly useful for our weed-detecting robot. Techniques like ANN and selective herbicide application could enhance our robot's efficiency in detecting and treating weeds while reducing herbicide use.</a:t>
                      </a:r>
                    </a:p>
                  </a:txBody>
                  <a:tcPr/>
                </a:tc>
                <a:extLst>
                  <a:ext uri="{0D108BD9-81ED-4DB2-BD59-A6C34878D82A}">
                    <a16:rowId xmlns:a16="http://schemas.microsoft.com/office/drawing/2014/main" val="2264711402"/>
                  </a:ext>
                </a:extLst>
              </a:tr>
            </a:tbl>
          </a:graphicData>
        </a:graphic>
      </p:graphicFrame>
    </p:spTree>
    <p:extLst>
      <p:ext uri="{BB962C8B-B14F-4D97-AF65-F5344CB8AC3E}">
        <p14:creationId xmlns:p14="http://schemas.microsoft.com/office/powerpoint/2010/main" val="2535719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29;p32">
            <a:extLst>
              <a:ext uri="{FF2B5EF4-FFF2-40B4-BE49-F238E27FC236}">
                <a16:creationId xmlns:a16="http://schemas.microsoft.com/office/drawing/2014/main" id="{94BCA3D8-9913-8916-02C1-C01087BD70DB}"/>
              </a:ext>
            </a:extLst>
          </p:cNvPr>
          <p:cNvSpPr txBox="1">
            <a:spLocks noGrp="1"/>
          </p:cNvSpPr>
          <p:nvPr>
            <p:ph type="title"/>
          </p:nvPr>
        </p:nvSpPr>
        <p:spPr>
          <a:xfrm>
            <a:off x="2075380" y="-53339"/>
            <a:ext cx="4993240" cy="92964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600" b="1" dirty="0">
                <a:solidFill>
                  <a:schemeClr val="tx1"/>
                </a:solidFill>
                <a:effectLst/>
                <a:latin typeface="Inter Tight" panose="020B0604020202020204" charset="0"/>
                <a:ea typeface="Inter Tight" panose="020B0604020202020204" charset="0"/>
                <a:cs typeface="Inter Tight" panose="020B0604020202020204" charset="0"/>
              </a:rPr>
              <a:t>Gantt Chart:</a:t>
            </a:r>
            <a:endParaRPr sz="3600" dirty="0">
              <a:solidFill>
                <a:schemeClr val="tx1"/>
              </a:solidFill>
              <a:latin typeface="Inter Tight" panose="020B0604020202020204" charset="0"/>
              <a:ea typeface="Inter Tight" panose="020B0604020202020204" charset="0"/>
              <a:cs typeface="Inter Tight" panose="020B0604020202020204" charset="0"/>
            </a:endParaRPr>
          </a:p>
        </p:txBody>
      </p:sp>
      <p:pic>
        <p:nvPicPr>
          <p:cNvPr id="5" name="Picture 4">
            <a:extLst>
              <a:ext uri="{FF2B5EF4-FFF2-40B4-BE49-F238E27FC236}">
                <a16:creationId xmlns:a16="http://schemas.microsoft.com/office/drawing/2014/main" id="{A882BAC1-F2F0-2E42-2963-C9F6E8DC40CE}"/>
              </a:ext>
            </a:extLst>
          </p:cNvPr>
          <p:cNvPicPr>
            <a:picLocks noChangeAspect="1"/>
          </p:cNvPicPr>
          <p:nvPr/>
        </p:nvPicPr>
        <p:blipFill>
          <a:blip r:embed="rId2"/>
          <a:stretch>
            <a:fillRect/>
          </a:stretch>
        </p:blipFill>
        <p:spPr>
          <a:xfrm>
            <a:off x="0" y="769003"/>
            <a:ext cx="9144000" cy="3879813"/>
          </a:xfrm>
          <a:prstGeom prst="rect">
            <a:avLst/>
          </a:prstGeom>
        </p:spPr>
      </p:pic>
    </p:spTree>
    <p:extLst>
      <p:ext uri="{BB962C8B-B14F-4D97-AF65-F5344CB8AC3E}">
        <p14:creationId xmlns:p14="http://schemas.microsoft.com/office/powerpoint/2010/main" val="1805724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2628"/>
        <p:cNvGrpSpPr/>
        <p:nvPr/>
      </p:nvGrpSpPr>
      <p:grpSpPr>
        <a:xfrm>
          <a:off x="0" y="0"/>
          <a:ext cx="0" cy="0"/>
          <a:chOff x="0" y="0"/>
          <a:chExt cx="0" cy="0"/>
        </a:xfrm>
      </p:grpSpPr>
      <p:sp>
        <p:nvSpPr>
          <p:cNvPr id="2" name="TextBox 1">
            <a:extLst>
              <a:ext uri="{FF2B5EF4-FFF2-40B4-BE49-F238E27FC236}">
                <a16:creationId xmlns:a16="http://schemas.microsoft.com/office/drawing/2014/main" id="{A1AAE2D4-DF9F-365A-F174-0EF9B8C6DA43}"/>
              </a:ext>
            </a:extLst>
          </p:cNvPr>
          <p:cNvSpPr txBox="1"/>
          <p:nvPr/>
        </p:nvSpPr>
        <p:spPr>
          <a:xfrm>
            <a:off x="1688951" y="2063919"/>
            <a:ext cx="5766098" cy="1015663"/>
          </a:xfrm>
          <a:prstGeom prst="rect">
            <a:avLst/>
          </a:prstGeom>
          <a:noFill/>
        </p:spPr>
        <p:txBody>
          <a:bodyPr wrap="square" rtlCol="0">
            <a:spAutoFit/>
          </a:bodyPr>
          <a:lstStyle/>
          <a:p>
            <a:pPr algn="ctr"/>
            <a:r>
              <a:rPr lang="en-US" sz="6000" dirty="0">
                <a:solidFill>
                  <a:schemeClr val="bg1"/>
                </a:solidFill>
                <a:latin typeface="Inter Tight" panose="020B0604020202020204" charset="0"/>
                <a:ea typeface="Inter Tight" panose="020B0604020202020204" charset="0"/>
                <a:cs typeface="Inter Tight" panose="020B0604020202020204" charset="0"/>
              </a:rPr>
              <a:t>Any Questions?</a:t>
            </a:r>
            <a:endParaRPr lang="en-PK" sz="6000" dirty="0">
              <a:solidFill>
                <a:schemeClr val="bg1"/>
              </a:solidFill>
              <a:latin typeface="Inter Tight" panose="020B0604020202020204" charset="0"/>
              <a:ea typeface="Inter Tight" panose="020B0604020202020204" charset="0"/>
              <a:cs typeface="Inter Tight" panose="020B0604020202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2628"/>
        <p:cNvGrpSpPr/>
        <p:nvPr/>
      </p:nvGrpSpPr>
      <p:grpSpPr>
        <a:xfrm>
          <a:off x="0" y="0"/>
          <a:ext cx="0" cy="0"/>
          <a:chOff x="0" y="0"/>
          <a:chExt cx="0" cy="0"/>
        </a:xfrm>
      </p:grpSpPr>
      <p:sp>
        <p:nvSpPr>
          <p:cNvPr id="2" name="TextBox 1">
            <a:extLst>
              <a:ext uri="{FF2B5EF4-FFF2-40B4-BE49-F238E27FC236}">
                <a16:creationId xmlns:a16="http://schemas.microsoft.com/office/drawing/2014/main" id="{A1AAE2D4-DF9F-365A-F174-0EF9B8C6DA43}"/>
              </a:ext>
            </a:extLst>
          </p:cNvPr>
          <p:cNvSpPr txBox="1"/>
          <p:nvPr/>
        </p:nvSpPr>
        <p:spPr>
          <a:xfrm>
            <a:off x="1688951" y="2063919"/>
            <a:ext cx="5766098" cy="1015663"/>
          </a:xfrm>
          <a:prstGeom prst="rect">
            <a:avLst/>
          </a:prstGeom>
          <a:noFill/>
        </p:spPr>
        <p:txBody>
          <a:bodyPr wrap="square" rtlCol="0">
            <a:spAutoFit/>
          </a:bodyPr>
          <a:lstStyle/>
          <a:p>
            <a:pPr algn="ctr"/>
            <a:r>
              <a:rPr lang="en-US" sz="6000" dirty="0">
                <a:solidFill>
                  <a:schemeClr val="bg1"/>
                </a:solidFill>
                <a:latin typeface="Inter Tight" panose="020B0604020202020204" charset="0"/>
                <a:ea typeface="Inter Tight" panose="020B0604020202020204" charset="0"/>
                <a:cs typeface="Inter Tight" panose="020B0604020202020204" charset="0"/>
              </a:rPr>
              <a:t>Thank You</a:t>
            </a:r>
            <a:endParaRPr lang="en-PK" sz="6000" dirty="0">
              <a:solidFill>
                <a:schemeClr val="bg1"/>
              </a:solidFill>
              <a:latin typeface="Inter Tight" panose="020B0604020202020204" charset="0"/>
              <a:ea typeface="Inter Tight" panose="020B0604020202020204" charset="0"/>
              <a:cs typeface="Inter Tight" panose="020B0604020202020204" charset="0"/>
            </a:endParaRPr>
          </a:p>
        </p:txBody>
      </p:sp>
    </p:spTree>
    <p:extLst>
      <p:ext uri="{BB962C8B-B14F-4D97-AF65-F5344CB8AC3E}">
        <p14:creationId xmlns:p14="http://schemas.microsoft.com/office/powerpoint/2010/main" val="301285479"/>
      </p:ext>
    </p:extLst>
  </p:cSld>
  <p:clrMapOvr>
    <a:masterClrMapping/>
  </p:clrMapOvr>
</p:sld>
</file>

<file path=ppt/theme/theme1.xml><?xml version="1.0" encoding="utf-8"?>
<a:theme xmlns:a="http://schemas.openxmlformats.org/drawingml/2006/main" name="Cost Reduction in Manufacturing Industry Consulting Toolkit by Slidesgo">
  <a:themeElements>
    <a:clrScheme name="Simple Light">
      <a:dk1>
        <a:srgbClr val="3B3A3A"/>
      </a:dk1>
      <a:lt1>
        <a:srgbClr val="EFEFEF"/>
      </a:lt1>
      <a:dk2>
        <a:srgbClr val="FB7E01"/>
      </a:dk2>
      <a:lt2>
        <a:srgbClr val="0C5084"/>
      </a:lt2>
      <a:accent1>
        <a:srgbClr val="D42416"/>
      </a:accent1>
      <a:accent2>
        <a:srgbClr val="999999"/>
      </a:accent2>
      <a:accent3>
        <a:srgbClr val="737373"/>
      </a:accent3>
      <a:accent4>
        <a:srgbClr val="CCCCCC"/>
      </a:accent4>
      <a:accent5>
        <a:srgbClr val="E9A85A"/>
      </a:accent5>
      <a:accent6>
        <a:srgbClr val="FFFFFF"/>
      </a:accent6>
      <a:hlink>
        <a:srgbClr val="3B3A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914</Words>
  <Application>Microsoft Office PowerPoint</Application>
  <PresentationFormat>On-screen Show (16:9)</PresentationFormat>
  <Paragraphs>97</Paragraphs>
  <Slides>14</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Proxima Nova</vt:lpstr>
      <vt:lpstr>Inter Tight</vt:lpstr>
      <vt:lpstr>Wingdings</vt:lpstr>
      <vt:lpstr>Open Sans</vt:lpstr>
      <vt:lpstr>Arial</vt:lpstr>
      <vt:lpstr>Raleway</vt:lpstr>
      <vt:lpstr>Merriweather Sans</vt:lpstr>
      <vt:lpstr>Cost Reduction in Manufacturing Industry Consulting Toolkit by Slidesgo</vt:lpstr>
      <vt:lpstr>Slidesgo Final Pages</vt:lpstr>
      <vt:lpstr>AGRO-BOT</vt:lpstr>
      <vt:lpstr>Project Overview:</vt:lpstr>
      <vt:lpstr>Project Overview:</vt:lpstr>
      <vt:lpstr>Project Overview:</vt:lpstr>
      <vt:lpstr>Motivation</vt:lpstr>
      <vt:lpstr>Literature Review</vt:lpstr>
      <vt:lpstr>Literature Review</vt:lpstr>
      <vt:lpstr>Literature Review</vt:lpstr>
      <vt:lpstr>Literature Review</vt:lpstr>
      <vt:lpstr>Literature Review</vt:lpstr>
      <vt:lpstr>Literature Review</vt:lpstr>
      <vt:lpstr>Gantt Chart: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AGRO-BOT</dc:title>
  <dc:creator>MK</dc:creator>
  <cp:lastModifiedBy>u2021294</cp:lastModifiedBy>
  <cp:revision>10</cp:revision>
  <dcterms:modified xsi:type="dcterms:W3CDTF">2024-09-26T21:15:34Z</dcterms:modified>
</cp:coreProperties>
</file>